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4" r:id="rId3"/>
    <p:sldId id="265" r:id="rId4"/>
    <p:sldId id="289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3" r:id="rId15"/>
    <p:sldId id="324" r:id="rId16"/>
    <p:sldId id="322" r:id="rId17"/>
    <p:sldId id="325" r:id="rId18"/>
    <p:sldId id="326" r:id="rId19"/>
    <p:sldId id="327" r:id="rId20"/>
    <p:sldId id="328" r:id="rId21"/>
    <p:sldId id="329" r:id="rId22"/>
    <p:sldId id="309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10" r:id="rId31"/>
    <p:sldId id="26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9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2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0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D8BE2B-A909-4D85-9C49-EF56187F5D92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F8B18B4-C64C-4E16-9470-55E6C9726A6D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Gathering Apparatus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6BF015-8A15-449C-9735-8AE9C0E29FCE}" type="parTrans" cxnId="{153F6AFA-542D-4EA6-94E7-F97E195011ED}">
      <dgm:prSet/>
      <dgm:spPr/>
      <dgm:t>
        <a:bodyPr/>
        <a:lstStyle/>
        <a:p>
          <a:endParaRPr lang="en-US"/>
        </a:p>
      </dgm:t>
    </dgm:pt>
    <dgm:pt modelId="{45A2F886-FE87-4082-9F03-4339504F6C57}" type="sibTrans" cxnId="{153F6AFA-542D-4EA6-94E7-F97E195011ED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93EA7E-1F0A-419F-98A8-C26C8E8A28AD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Apparatus Validity Test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2DB5E6-F66D-430B-9418-0A710CB53E70}" type="parTrans" cxnId="{A581AD17-DD3A-4B77-91C7-1FD9BDA5380E}">
      <dgm:prSet/>
      <dgm:spPr/>
      <dgm:t>
        <a:bodyPr/>
        <a:lstStyle/>
        <a:p>
          <a:endParaRPr lang="en-US"/>
        </a:p>
      </dgm:t>
    </dgm:pt>
    <dgm:pt modelId="{9152F024-AFB8-4863-B38B-A834C596701B}" type="sibTrans" cxnId="{A581AD17-DD3A-4B77-91C7-1FD9BDA5380E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7EAE70-6913-4DC0-834E-703410E7B8A8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Installation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C53445-1FCE-4C5D-9385-B3579A563032}" type="parTrans" cxnId="{B0AFC4EE-1B35-4B04-8AE5-01C2813012E5}">
      <dgm:prSet/>
      <dgm:spPr/>
      <dgm:t>
        <a:bodyPr/>
        <a:lstStyle/>
        <a:p>
          <a:endParaRPr lang="en-US"/>
        </a:p>
      </dgm:t>
    </dgm:pt>
    <dgm:pt modelId="{6525F76B-32AA-44FF-AD3B-337E6BB7E017}" type="sibTrans" cxnId="{B0AFC4EE-1B35-4B04-8AE5-01C2813012E5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AFCF81-82F6-4832-AF98-DB48D68468A1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GUI development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0CA351-DE3A-4523-8768-5F8D3D835026}" type="parTrans" cxnId="{7875AB9F-8F4A-4984-AEFA-DB55868CE866}">
      <dgm:prSet/>
      <dgm:spPr/>
      <dgm:t>
        <a:bodyPr/>
        <a:lstStyle/>
        <a:p>
          <a:endParaRPr lang="en-US"/>
        </a:p>
      </dgm:t>
    </dgm:pt>
    <dgm:pt modelId="{BCB128D2-2C5B-4363-B820-DCD777D549C2}" type="sibTrans" cxnId="{7875AB9F-8F4A-4984-AEFA-DB55868CE866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93C8C3-8C5A-4667-B76C-42E8D469C49E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PWM Generation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8EF01C-C40F-4B4D-BE18-31DAC04DB1B5}" type="parTrans" cxnId="{879F5EF1-7021-4B65-9322-050D8399D085}">
      <dgm:prSet/>
      <dgm:spPr/>
      <dgm:t>
        <a:bodyPr/>
        <a:lstStyle/>
        <a:p>
          <a:endParaRPr lang="en-US"/>
        </a:p>
      </dgm:t>
    </dgm:pt>
    <dgm:pt modelId="{CF348D17-D0EF-4569-A3D2-31182D550C50}" type="sibTrans" cxnId="{879F5EF1-7021-4B65-9322-050D8399D085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F3DF72-58D4-474E-ADF1-CBB10EA2DD11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PID Tuning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F2E81-DBD2-4086-88F4-45603337DB22}" type="parTrans" cxnId="{1B313735-6D9C-4D3C-82BA-9EC41F0C22B0}">
      <dgm:prSet/>
      <dgm:spPr/>
      <dgm:t>
        <a:bodyPr/>
        <a:lstStyle/>
        <a:p>
          <a:endParaRPr lang="en-US"/>
        </a:p>
      </dgm:t>
    </dgm:pt>
    <dgm:pt modelId="{30651952-D008-4F97-83F2-00B9DC931514}" type="sibTrans" cxnId="{1B313735-6D9C-4D3C-82BA-9EC41F0C22B0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14971D-CF97-4781-9234-6CB0CD65D709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Running the Motor Driver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706491-6601-47C6-916F-91F286558AA7}" type="parTrans" cxnId="{ADAA1E23-9780-4870-96FE-A846FA1F00E2}">
      <dgm:prSet/>
      <dgm:spPr/>
      <dgm:t>
        <a:bodyPr/>
        <a:lstStyle/>
        <a:p>
          <a:endParaRPr lang="en-US"/>
        </a:p>
      </dgm:t>
    </dgm:pt>
    <dgm:pt modelId="{AEDB78AE-D61F-4554-8AE0-85A475848458}" type="sibTrans" cxnId="{ADAA1E23-9780-4870-96FE-A846FA1F00E2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DC6F6E-4759-4B21-BB2B-ADF778D1A1F6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Observation and Justification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661296-3453-4EFE-BE95-FEDDCA9EA82F}" type="parTrans" cxnId="{EA922280-8A24-468F-AF3B-9CFBCF5C193B}">
      <dgm:prSet/>
      <dgm:spPr/>
      <dgm:t>
        <a:bodyPr/>
        <a:lstStyle/>
        <a:p>
          <a:endParaRPr lang="en-US"/>
        </a:p>
      </dgm:t>
    </dgm:pt>
    <dgm:pt modelId="{E34C8059-2D78-4E42-A4C0-45A536003A84}" type="sibTrans" cxnId="{EA922280-8A24-468F-AF3B-9CFBCF5C193B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5C69DF-4421-4548-A727-A9D7E7953F94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BAC691-3148-485E-B509-4FFAED32EED4}" type="parTrans" cxnId="{99720DE5-72C9-4D0C-B726-AC53F26552A6}">
      <dgm:prSet/>
      <dgm:spPr/>
      <dgm:t>
        <a:bodyPr/>
        <a:lstStyle/>
        <a:p>
          <a:endParaRPr lang="en-US"/>
        </a:p>
      </dgm:t>
    </dgm:pt>
    <dgm:pt modelId="{C6A52861-FA0E-474D-BEAB-D9BDD5A1BE89}" type="sibTrans" cxnId="{99720DE5-72C9-4D0C-B726-AC53F26552A6}">
      <dgm:prSet/>
      <dgm:spPr/>
      <dgm:t>
        <a:bodyPr/>
        <a:lstStyle/>
        <a:p>
          <a:endParaRPr lang="en-US"/>
        </a:p>
      </dgm:t>
    </dgm:pt>
    <dgm:pt modelId="{950297EB-6823-46BF-8EB5-3AE8E7786D74}" type="pres">
      <dgm:prSet presAssocID="{55D8BE2B-A909-4D85-9C49-EF56187F5D92}" presName="diagram" presStyleCnt="0">
        <dgm:presLayoutVars>
          <dgm:dir/>
          <dgm:resizeHandles val="exact"/>
        </dgm:presLayoutVars>
      </dgm:prSet>
      <dgm:spPr/>
    </dgm:pt>
    <dgm:pt modelId="{02976004-52BD-4BC3-9574-5CA7E0FF42F0}" type="pres">
      <dgm:prSet presAssocID="{9F8B18B4-C64C-4E16-9470-55E6C9726A6D}" presName="node" presStyleLbl="node1" presStyleIdx="0" presStyleCnt="9">
        <dgm:presLayoutVars>
          <dgm:bulletEnabled val="1"/>
        </dgm:presLayoutVars>
      </dgm:prSet>
      <dgm:spPr/>
    </dgm:pt>
    <dgm:pt modelId="{F05936DF-32C5-4F36-948C-697CCFD6C2B2}" type="pres">
      <dgm:prSet presAssocID="{45A2F886-FE87-4082-9F03-4339504F6C57}" presName="sibTrans" presStyleLbl="sibTrans2D1" presStyleIdx="0" presStyleCnt="8"/>
      <dgm:spPr/>
    </dgm:pt>
    <dgm:pt modelId="{780121B3-B9A0-469C-8F67-5795236B680A}" type="pres">
      <dgm:prSet presAssocID="{45A2F886-FE87-4082-9F03-4339504F6C57}" presName="connectorText" presStyleLbl="sibTrans2D1" presStyleIdx="0" presStyleCnt="8"/>
      <dgm:spPr/>
    </dgm:pt>
    <dgm:pt modelId="{5D4A74A6-1F78-4334-AE80-7B9EFCB18B37}" type="pres">
      <dgm:prSet presAssocID="{C093EA7E-1F0A-419F-98A8-C26C8E8A28AD}" presName="node" presStyleLbl="node1" presStyleIdx="1" presStyleCnt="9">
        <dgm:presLayoutVars>
          <dgm:bulletEnabled val="1"/>
        </dgm:presLayoutVars>
      </dgm:prSet>
      <dgm:spPr/>
    </dgm:pt>
    <dgm:pt modelId="{031190CA-FEFF-483E-B09B-3C0C0047BB51}" type="pres">
      <dgm:prSet presAssocID="{9152F024-AFB8-4863-B38B-A834C596701B}" presName="sibTrans" presStyleLbl="sibTrans2D1" presStyleIdx="1" presStyleCnt="8"/>
      <dgm:spPr/>
    </dgm:pt>
    <dgm:pt modelId="{6DB4B701-4A63-4ED2-9AFC-A81B0BAB9881}" type="pres">
      <dgm:prSet presAssocID="{9152F024-AFB8-4863-B38B-A834C596701B}" presName="connectorText" presStyleLbl="sibTrans2D1" presStyleIdx="1" presStyleCnt="8"/>
      <dgm:spPr/>
    </dgm:pt>
    <dgm:pt modelId="{C116B66D-7F32-4A5F-A10F-8C6B6C788DFC}" type="pres">
      <dgm:prSet presAssocID="{617EAE70-6913-4DC0-834E-703410E7B8A8}" presName="node" presStyleLbl="node1" presStyleIdx="2" presStyleCnt="9">
        <dgm:presLayoutVars>
          <dgm:bulletEnabled val="1"/>
        </dgm:presLayoutVars>
      </dgm:prSet>
      <dgm:spPr/>
    </dgm:pt>
    <dgm:pt modelId="{B632F5B5-0684-4B2A-918F-BEEE473DEECF}" type="pres">
      <dgm:prSet presAssocID="{6525F76B-32AA-44FF-AD3B-337E6BB7E017}" presName="sibTrans" presStyleLbl="sibTrans2D1" presStyleIdx="2" presStyleCnt="8"/>
      <dgm:spPr/>
    </dgm:pt>
    <dgm:pt modelId="{6840FC1A-49D5-4718-B9D8-AB9990C5BAD8}" type="pres">
      <dgm:prSet presAssocID="{6525F76B-32AA-44FF-AD3B-337E6BB7E017}" presName="connectorText" presStyleLbl="sibTrans2D1" presStyleIdx="2" presStyleCnt="8"/>
      <dgm:spPr/>
    </dgm:pt>
    <dgm:pt modelId="{C972F570-D6E9-402E-9636-9252C47A56FB}" type="pres">
      <dgm:prSet presAssocID="{B1AFCF81-82F6-4832-AF98-DB48D68468A1}" presName="node" presStyleLbl="node1" presStyleIdx="3" presStyleCnt="9">
        <dgm:presLayoutVars>
          <dgm:bulletEnabled val="1"/>
        </dgm:presLayoutVars>
      </dgm:prSet>
      <dgm:spPr/>
    </dgm:pt>
    <dgm:pt modelId="{E1920E6A-8D7C-4AAC-9D53-1D57D4600CBE}" type="pres">
      <dgm:prSet presAssocID="{BCB128D2-2C5B-4363-B820-DCD777D549C2}" presName="sibTrans" presStyleLbl="sibTrans2D1" presStyleIdx="3" presStyleCnt="8"/>
      <dgm:spPr/>
    </dgm:pt>
    <dgm:pt modelId="{8026299A-94CD-4E8C-9A2D-783D471A2B40}" type="pres">
      <dgm:prSet presAssocID="{BCB128D2-2C5B-4363-B820-DCD777D549C2}" presName="connectorText" presStyleLbl="sibTrans2D1" presStyleIdx="3" presStyleCnt="8"/>
      <dgm:spPr/>
    </dgm:pt>
    <dgm:pt modelId="{3656453B-1AB6-4D1E-80D9-AEADCD63C1F0}" type="pres">
      <dgm:prSet presAssocID="{B193C8C3-8C5A-4667-B76C-42E8D469C49E}" presName="node" presStyleLbl="node1" presStyleIdx="4" presStyleCnt="9">
        <dgm:presLayoutVars>
          <dgm:bulletEnabled val="1"/>
        </dgm:presLayoutVars>
      </dgm:prSet>
      <dgm:spPr/>
    </dgm:pt>
    <dgm:pt modelId="{3BAEC3D7-D67B-44D6-BD69-6E90E54C076F}" type="pres">
      <dgm:prSet presAssocID="{CF348D17-D0EF-4569-A3D2-31182D550C50}" presName="sibTrans" presStyleLbl="sibTrans2D1" presStyleIdx="4" presStyleCnt="8"/>
      <dgm:spPr/>
    </dgm:pt>
    <dgm:pt modelId="{F76E9AFC-1FEE-4990-A7E4-394ABBCED585}" type="pres">
      <dgm:prSet presAssocID="{CF348D17-D0EF-4569-A3D2-31182D550C50}" presName="connectorText" presStyleLbl="sibTrans2D1" presStyleIdx="4" presStyleCnt="8"/>
      <dgm:spPr/>
    </dgm:pt>
    <dgm:pt modelId="{E8D37FC4-C902-4B9C-9D77-9BCA859BB557}" type="pres">
      <dgm:prSet presAssocID="{85F3DF72-58D4-474E-ADF1-CBB10EA2DD11}" presName="node" presStyleLbl="node1" presStyleIdx="5" presStyleCnt="9">
        <dgm:presLayoutVars>
          <dgm:bulletEnabled val="1"/>
        </dgm:presLayoutVars>
      </dgm:prSet>
      <dgm:spPr/>
    </dgm:pt>
    <dgm:pt modelId="{8069BBED-1399-4055-A82A-555294F97668}" type="pres">
      <dgm:prSet presAssocID="{30651952-D008-4F97-83F2-00B9DC931514}" presName="sibTrans" presStyleLbl="sibTrans2D1" presStyleIdx="5" presStyleCnt="8"/>
      <dgm:spPr/>
    </dgm:pt>
    <dgm:pt modelId="{C3DEDA89-1B3B-4D39-8731-B16C5DA6C051}" type="pres">
      <dgm:prSet presAssocID="{30651952-D008-4F97-83F2-00B9DC931514}" presName="connectorText" presStyleLbl="sibTrans2D1" presStyleIdx="5" presStyleCnt="8"/>
      <dgm:spPr/>
    </dgm:pt>
    <dgm:pt modelId="{17ADB5C8-B9DC-4FA4-B42D-1A15E92C4268}" type="pres">
      <dgm:prSet presAssocID="{CD14971D-CF97-4781-9234-6CB0CD65D709}" presName="node" presStyleLbl="node1" presStyleIdx="6" presStyleCnt="9">
        <dgm:presLayoutVars>
          <dgm:bulletEnabled val="1"/>
        </dgm:presLayoutVars>
      </dgm:prSet>
      <dgm:spPr/>
    </dgm:pt>
    <dgm:pt modelId="{A7512F96-FF24-42FC-A769-80AD3C705B91}" type="pres">
      <dgm:prSet presAssocID="{AEDB78AE-D61F-4554-8AE0-85A475848458}" presName="sibTrans" presStyleLbl="sibTrans2D1" presStyleIdx="6" presStyleCnt="8"/>
      <dgm:spPr/>
    </dgm:pt>
    <dgm:pt modelId="{F4E5F184-E7DA-4FBF-B25E-8422D01CB68E}" type="pres">
      <dgm:prSet presAssocID="{AEDB78AE-D61F-4554-8AE0-85A475848458}" presName="connectorText" presStyleLbl="sibTrans2D1" presStyleIdx="6" presStyleCnt="8"/>
      <dgm:spPr/>
    </dgm:pt>
    <dgm:pt modelId="{C9C9BC27-29F6-4C09-9C8A-F1DAA50F50CC}" type="pres">
      <dgm:prSet presAssocID="{ACDC6F6E-4759-4B21-BB2B-ADF778D1A1F6}" presName="node" presStyleLbl="node1" presStyleIdx="7" presStyleCnt="9">
        <dgm:presLayoutVars>
          <dgm:bulletEnabled val="1"/>
        </dgm:presLayoutVars>
      </dgm:prSet>
      <dgm:spPr/>
    </dgm:pt>
    <dgm:pt modelId="{45C51929-B5B9-4A5D-8EDA-AD78E50C36AD}" type="pres">
      <dgm:prSet presAssocID="{E34C8059-2D78-4E42-A4C0-45A536003A84}" presName="sibTrans" presStyleLbl="sibTrans2D1" presStyleIdx="7" presStyleCnt="8" custScaleX="220302" custLinFactY="8445" custLinFactNeighborX="-36636" custLinFactNeighborY="100000"/>
      <dgm:spPr/>
    </dgm:pt>
    <dgm:pt modelId="{A9C5F124-3925-4D88-94E5-1D9AEF21CFD1}" type="pres">
      <dgm:prSet presAssocID="{E34C8059-2D78-4E42-A4C0-45A536003A84}" presName="connectorText" presStyleLbl="sibTrans2D1" presStyleIdx="7" presStyleCnt="8"/>
      <dgm:spPr/>
    </dgm:pt>
    <dgm:pt modelId="{B9485D5E-C90F-4C04-A2FC-66C7D558132B}" type="pres">
      <dgm:prSet presAssocID="{E45C69DF-4421-4548-A727-A9D7E7953F94}" presName="node" presStyleLbl="node1" presStyleIdx="8" presStyleCnt="9" custLinFactX="100000" custLinFactNeighborX="110000" custLinFactNeighborY="-17240">
        <dgm:presLayoutVars>
          <dgm:bulletEnabled val="1"/>
        </dgm:presLayoutVars>
      </dgm:prSet>
      <dgm:spPr/>
    </dgm:pt>
  </dgm:ptLst>
  <dgm:cxnLst>
    <dgm:cxn modelId="{54C30902-B05C-4032-9E2A-444834F6135B}" type="presOf" srcId="{E34C8059-2D78-4E42-A4C0-45A536003A84}" destId="{45C51929-B5B9-4A5D-8EDA-AD78E50C36AD}" srcOrd="0" destOrd="0" presId="urn:microsoft.com/office/officeart/2005/8/layout/process5"/>
    <dgm:cxn modelId="{DF01F30B-BCEB-495D-AF42-812A04C4CC0E}" type="presOf" srcId="{6525F76B-32AA-44FF-AD3B-337E6BB7E017}" destId="{B632F5B5-0684-4B2A-918F-BEEE473DEECF}" srcOrd="0" destOrd="0" presId="urn:microsoft.com/office/officeart/2005/8/layout/process5"/>
    <dgm:cxn modelId="{A581AD17-DD3A-4B77-91C7-1FD9BDA5380E}" srcId="{55D8BE2B-A909-4D85-9C49-EF56187F5D92}" destId="{C093EA7E-1F0A-419F-98A8-C26C8E8A28AD}" srcOrd="1" destOrd="0" parTransId="{272DB5E6-F66D-430B-9418-0A710CB53E70}" sibTransId="{9152F024-AFB8-4863-B38B-A834C596701B}"/>
    <dgm:cxn modelId="{15494621-CA60-46AB-8390-566B7DEE53C7}" type="presOf" srcId="{30651952-D008-4F97-83F2-00B9DC931514}" destId="{8069BBED-1399-4055-A82A-555294F97668}" srcOrd="0" destOrd="0" presId="urn:microsoft.com/office/officeart/2005/8/layout/process5"/>
    <dgm:cxn modelId="{ADAA1E23-9780-4870-96FE-A846FA1F00E2}" srcId="{55D8BE2B-A909-4D85-9C49-EF56187F5D92}" destId="{CD14971D-CF97-4781-9234-6CB0CD65D709}" srcOrd="6" destOrd="0" parTransId="{53706491-6601-47C6-916F-91F286558AA7}" sibTransId="{AEDB78AE-D61F-4554-8AE0-85A475848458}"/>
    <dgm:cxn modelId="{61B68E27-324D-4E67-9C3C-88397549E8A2}" type="presOf" srcId="{9152F024-AFB8-4863-B38B-A834C596701B}" destId="{031190CA-FEFF-483E-B09B-3C0C0047BB51}" srcOrd="0" destOrd="0" presId="urn:microsoft.com/office/officeart/2005/8/layout/process5"/>
    <dgm:cxn modelId="{3CA68429-B262-441F-B4D5-80CD0A9BA244}" type="presOf" srcId="{9F8B18B4-C64C-4E16-9470-55E6C9726A6D}" destId="{02976004-52BD-4BC3-9574-5CA7E0FF42F0}" srcOrd="0" destOrd="0" presId="urn:microsoft.com/office/officeart/2005/8/layout/process5"/>
    <dgm:cxn modelId="{0F281B2E-50A0-409C-9DA2-F27E0BD63705}" type="presOf" srcId="{30651952-D008-4F97-83F2-00B9DC931514}" destId="{C3DEDA89-1B3B-4D39-8731-B16C5DA6C051}" srcOrd="1" destOrd="0" presId="urn:microsoft.com/office/officeart/2005/8/layout/process5"/>
    <dgm:cxn modelId="{1B313735-6D9C-4D3C-82BA-9EC41F0C22B0}" srcId="{55D8BE2B-A909-4D85-9C49-EF56187F5D92}" destId="{85F3DF72-58D4-474E-ADF1-CBB10EA2DD11}" srcOrd="5" destOrd="0" parTransId="{5C9F2E81-DBD2-4086-88F4-45603337DB22}" sibTransId="{30651952-D008-4F97-83F2-00B9DC931514}"/>
    <dgm:cxn modelId="{08B9CB39-A93B-44A7-8592-4F962B6980DA}" type="presOf" srcId="{617EAE70-6913-4DC0-834E-703410E7B8A8}" destId="{C116B66D-7F32-4A5F-A10F-8C6B6C788DFC}" srcOrd="0" destOrd="0" presId="urn:microsoft.com/office/officeart/2005/8/layout/process5"/>
    <dgm:cxn modelId="{D167B65D-485E-449E-ADF4-ED494843D0F7}" type="presOf" srcId="{B1AFCF81-82F6-4832-AF98-DB48D68468A1}" destId="{C972F570-D6E9-402E-9636-9252C47A56FB}" srcOrd="0" destOrd="0" presId="urn:microsoft.com/office/officeart/2005/8/layout/process5"/>
    <dgm:cxn modelId="{B4BC6E44-6F68-46A7-9077-ED2A592184D4}" type="presOf" srcId="{ACDC6F6E-4759-4B21-BB2B-ADF778D1A1F6}" destId="{C9C9BC27-29F6-4C09-9C8A-F1DAA50F50CC}" srcOrd="0" destOrd="0" presId="urn:microsoft.com/office/officeart/2005/8/layout/process5"/>
    <dgm:cxn modelId="{D8BB7364-6EAE-4CDF-A715-226B9F25F422}" type="presOf" srcId="{C093EA7E-1F0A-419F-98A8-C26C8E8A28AD}" destId="{5D4A74A6-1F78-4334-AE80-7B9EFCB18B37}" srcOrd="0" destOrd="0" presId="urn:microsoft.com/office/officeart/2005/8/layout/process5"/>
    <dgm:cxn modelId="{19B7C46C-58DC-434E-A86E-AA1179A01017}" type="presOf" srcId="{45A2F886-FE87-4082-9F03-4339504F6C57}" destId="{780121B3-B9A0-469C-8F67-5795236B680A}" srcOrd="1" destOrd="0" presId="urn:microsoft.com/office/officeart/2005/8/layout/process5"/>
    <dgm:cxn modelId="{8490456E-44CC-4710-BCC9-647F6202C535}" type="presOf" srcId="{6525F76B-32AA-44FF-AD3B-337E6BB7E017}" destId="{6840FC1A-49D5-4718-B9D8-AB9990C5BAD8}" srcOrd="1" destOrd="0" presId="urn:microsoft.com/office/officeart/2005/8/layout/process5"/>
    <dgm:cxn modelId="{B085F470-5E75-4F81-B6C6-C06D6A6547F4}" type="presOf" srcId="{CD14971D-CF97-4781-9234-6CB0CD65D709}" destId="{17ADB5C8-B9DC-4FA4-B42D-1A15E92C4268}" srcOrd="0" destOrd="0" presId="urn:microsoft.com/office/officeart/2005/8/layout/process5"/>
    <dgm:cxn modelId="{0BCD8C74-CE03-49D7-AE04-0124D2D3A9F8}" type="presOf" srcId="{CF348D17-D0EF-4569-A3D2-31182D550C50}" destId="{F76E9AFC-1FEE-4990-A7E4-394ABBCED585}" srcOrd="1" destOrd="0" presId="urn:microsoft.com/office/officeart/2005/8/layout/process5"/>
    <dgm:cxn modelId="{5C08B278-B41D-4116-BACC-A1DECB6031F2}" type="presOf" srcId="{9152F024-AFB8-4863-B38B-A834C596701B}" destId="{6DB4B701-4A63-4ED2-9AFC-A81B0BAB9881}" srcOrd="1" destOrd="0" presId="urn:microsoft.com/office/officeart/2005/8/layout/process5"/>
    <dgm:cxn modelId="{EA922280-8A24-468F-AF3B-9CFBCF5C193B}" srcId="{55D8BE2B-A909-4D85-9C49-EF56187F5D92}" destId="{ACDC6F6E-4759-4B21-BB2B-ADF778D1A1F6}" srcOrd="7" destOrd="0" parTransId="{91661296-3453-4EFE-BE95-FEDDCA9EA82F}" sibTransId="{E34C8059-2D78-4E42-A4C0-45A536003A84}"/>
    <dgm:cxn modelId="{A354B381-E684-400D-8B50-7DA0AB29BE53}" type="presOf" srcId="{AEDB78AE-D61F-4554-8AE0-85A475848458}" destId="{A7512F96-FF24-42FC-A769-80AD3C705B91}" srcOrd="0" destOrd="0" presId="urn:microsoft.com/office/officeart/2005/8/layout/process5"/>
    <dgm:cxn modelId="{BE5AAC8D-1CCB-4337-9865-1B3C37E9E8AC}" type="presOf" srcId="{B193C8C3-8C5A-4667-B76C-42E8D469C49E}" destId="{3656453B-1AB6-4D1E-80D9-AEADCD63C1F0}" srcOrd="0" destOrd="0" presId="urn:microsoft.com/office/officeart/2005/8/layout/process5"/>
    <dgm:cxn modelId="{7875AB9F-8F4A-4984-AEFA-DB55868CE866}" srcId="{55D8BE2B-A909-4D85-9C49-EF56187F5D92}" destId="{B1AFCF81-82F6-4832-AF98-DB48D68468A1}" srcOrd="3" destOrd="0" parTransId="{0F0CA351-DE3A-4523-8768-5F8D3D835026}" sibTransId="{BCB128D2-2C5B-4363-B820-DCD777D549C2}"/>
    <dgm:cxn modelId="{F842CEA4-4985-47FA-9541-4A653FD65DAD}" type="presOf" srcId="{AEDB78AE-D61F-4554-8AE0-85A475848458}" destId="{F4E5F184-E7DA-4FBF-B25E-8422D01CB68E}" srcOrd="1" destOrd="0" presId="urn:microsoft.com/office/officeart/2005/8/layout/process5"/>
    <dgm:cxn modelId="{D8BCECA8-6795-4402-A47D-C4CA3F92132A}" type="presOf" srcId="{CF348D17-D0EF-4569-A3D2-31182D550C50}" destId="{3BAEC3D7-D67B-44D6-BD69-6E90E54C076F}" srcOrd="0" destOrd="0" presId="urn:microsoft.com/office/officeart/2005/8/layout/process5"/>
    <dgm:cxn modelId="{D9BEDDAD-C085-4046-99CC-65DD42368B12}" type="presOf" srcId="{E45C69DF-4421-4548-A727-A9D7E7953F94}" destId="{B9485D5E-C90F-4C04-A2FC-66C7D558132B}" srcOrd="0" destOrd="0" presId="urn:microsoft.com/office/officeart/2005/8/layout/process5"/>
    <dgm:cxn modelId="{C0556AB6-25E9-4B76-B452-CB8D0E28878E}" type="presOf" srcId="{BCB128D2-2C5B-4363-B820-DCD777D549C2}" destId="{E1920E6A-8D7C-4AAC-9D53-1D57D4600CBE}" srcOrd="0" destOrd="0" presId="urn:microsoft.com/office/officeart/2005/8/layout/process5"/>
    <dgm:cxn modelId="{A687AAC5-AF58-43E7-8D02-B3CA2E72B88A}" type="presOf" srcId="{85F3DF72-58D4-474E-ADF1-CBB10EA2DD11}" destId="{E8D37FC4-C902-4B9C-9D77-9BCA859BB557}" srcOrd="0" destOrd="0" presId="urn:microsoft.com/office/officeart/2005/8/layout/process5"/>
    <dgm:cxn modelId="{A422C3D5-5C16-4648-9654-4FA0915ABB89}" type="presOf" srcId="{BCB128D2-2C5B-4363-B820-DCD777D549C2}" destId="{8026299A-94CD-4E8C-9A2D-783D471A2B40}" srcOrd="1" destOrd="0" presId="urn:microsoft.com/office/officeart/2005/8/layout/process5"/>
    <dgm:cxn modelId="{396779D8-4E72-45E8-AAD1-E985CE9A6180}" type="presOf" srcId="{55D8BE2B-A909-4D85-9C49-EF56187F5D92}" destId="{950297EB-6823-46BF-8EB5-3AE8E7786D74}" srcOrd="0" destOrd="0" presId="urn:microsoft.com/office/officeart/2005/8/layout/process5"/>
    <dgm:cxn modelId="{99720DE5-72C9-4D0C-B726-AC53F26552A6}" srcId="{55D8BE2B-A909-4D85-9C49-EF56187F5D92}" destId="{E45C69DF-4421-4548-A727-A9D7E7953F94}" srcOrd="8" destOrd="0" parTransId="{ECBAC691-3148-485E-B509-4FFAED32EED4}" sibTransId="{C6A52861-FA0E-474D-BEAB-D9BDD5A1BE89}"/>
    <dgm:cxn modelId="{B0AFC4EE-1B35-4B04-8AE5-01C2813012E5}" srcId="{55D8BE2B-A909-4D85-9C49-EF56187F5D92}" destId="{617EAE70-6913-4DC0-834E-703410E7B8A8}" srcOrd="2" destOrd="0" parTransId="{4EC53445-1FCE-4C5D-9385-B3579A563032}" sibTransId="{6525F76B-32AA-44FF-AD3B-337E6BB7E017}"/>
    <dgm:cxn modelId="{879F5EF1-7021-4B65-9322-050D8399D085}" srcId="{55D8BE2B-A909-4D85-9C49-EF56187F5D92}" destId="{B193C8C3-8C5A-4667-B76C-42E8D469C49E}" srcOrd="4" destOrd="0" parTransId="{F88EF01C-C40F-4B4D-BE18-31DAC04DB1B5}" sibTransId="{CF348D17-D0EF-4569-A3D2-31182D550C50}"/>
    <dgm:cxn modelId="{6D5E48F6-4698-4BA7-81AE-7129C72BB1B7}" type="presOf" srcId="{E34C8059-2D78-4E42-A4C0-45A536003A84}" destId="{A9C5F124-3925-4D88-94E5-1D9AEF21CFD1}" srcOrd="1" destOrd="0" presId="urn:microsoft.com/office/officeart/2005/8/layout/process5"/>
    <dgm:cxn modelId="{6C2C12F7-F7BF-4CEC-BC69-9AA10A03CA5E}" type="presOf" srcId="{45A2F886-FE87-4082-9F03-4339504F6C57}" destId="{F05936DF-32C5-4F36-948C-697CCFD6C2B2}" srcOrd="0" destOrd="0" presId="urn:microsoft.com/office/officeart/2005/8/layout/process5"/>
    <dgm:cxn modelId="{153F6AFA-542D-4EA6-94E7-F97E195011ED}" srcId="{55D8BE2B-A909-4D85-9C49-EF56187F5D92}" destId="{9F8B18B4-C64C-4E16-9470-55E6C9726A6D}" srcOrd="0" destOrd="0" parTransId="{216BF015-8A15-449C-9735-8AE9C0E29FCE}" sibTransId="{45A2F886-FE87-4082-9F03-4339504F6C57}"/>
    <dgm:cxn modelId="{A15885C5-A186-4B59-A449-20EC7134D949}" type="presParOf" srcId="{950297EB-6823-46BF-8EB5-3AE8E7786D74}" destId="{02976004-52BD-4BC3-9574-5CA7E0FF42F0}" srcOrd="0" destOrd="0" presId="urn:microsoft.com/office/officeart/2005/8/layout/process5"/>
    <dgm:cxn modelId="{F8485E56-0092-4EFC-A8A8-7DF72E79127C}" type="presParOf" srcId="{950297EB-6823-46BF-8EB5-3AE8E7786D74}" destId="{F05936DF-32C5-4F36-948C-697CCFD6C2B2}" srcOrd="1" destOrd="0" presId="urn:microsoft.com/office/officeart/2005/8/layout/process5"/>
    <dgm:cxn modelId="{CA25A296-C447-4180-9E1E-09D8EBA268DD}" type="presParOf" srcId="{F05936DF-32C5-4F36-948C-697CCFD6C2B2}" destId="{780121B3-B9A0-469C-8F67-5795236B680A}" srcOrd="0" destOrd="0" presId="urn:microsoft.com/office/officeart/2005/8/layout/process5"/>
    <dgm:cxn modelId="{006BD7C2-FE30-4E48-A8BF-A653E8FB8DBC}" type="presParOf" srcId="{950297EB-6823-46BF-8EB5-3AE8E7786D74}" destId="{5D4A74A6-1F78-4334-AE80-7B9EFCB18B37}" srcOrd="2" destOrd="0" presId="urn:microsoft.com/office/officeart/2005/8/layout/process5"/>
    <dgm:cxn modelId="{7BAC1658-4D20-4AE9-891F-2A9BEEA157E6}" type="presParOf" srcId="{950297EB-6823-46BF-8EB5-3AE8E7786D74}" destId="{031190CA-FEFF-483E-B09B-3C0C0047BB51}" srcOrd="3" destOrd="0" presId="urn:microsoft.com/office/officeart/2005/8/layout/process5"/>
    <dgm:cxn modelId="{3882FEA9-4A21-4ADC-92FA-8C84A1D1A308}" type="presParOf" srcId="{031190CA-FEFF-483E-B09B-3C0C0047BB51}" destId="{6DB4B701-4A63-4ED2-9AFC-A81B0BAB9881}" srcOrd="0" destOrd="0" presId="urn:microsoft.com/office/officeart/2005/8/layout/process5"/>
    <dgm:cxn modelId="{7BD69677-B3DF-407D-9C58-9ADA31205484}" type="presParOf" srcId="{950297EB-6823-46BF-8EB5-3AE8E7786D74}" destId="{C116B66D-7F32-4A5F-A10F-8C6B6C788DFC}" srcOrd="4" destOrd="0" presId="urn:microsoft.com/office/officeart/2005/8/layout/process5"/>
    <dgm:cxn modelId="{7383625F-B3CD-4022-B75B-419C86D1F2A6}" type="presParOf" srcId="{950297EB-6823-46BF-8EB5-3AE8E7786D74}" destId="{B632F5B5-0684-4B2A-918F-BEEE473DEECF}" srcOrd="5" destOrd="0" presId="urn:microsoft.com/office/officeart/2005/8/layout/process5"/>
    <dgm:cxn modelId="{2CA0B9D1-89A8-443E-88EB-342B3475A14A}" type="presParOf" srcId="{B632F5B5-0684-4B2A-918F-BEEE473DEECF}" destId="{6840FC1A-49D5-4718-B9D8-AB9990C5BAD8}" srcOrd="0" destOrd="0" presId="urn:microsoft.com/office/officeart/2005/8/layout/process5"/>
    <dgm:cxn modelId="{05E4C6CD-27BC-4A1A-8351-E733DBB1CC12}" type="presParOf" srcId="{950297EB-6823-46BF-8EB5-3AE8E7786D74}" destId="{C972F570-D6E9-402E-9636-9252C47A56FB}" srcOrd="6" destOrd="0" presId="urn:microsoft.com/office/officeart/2005/8/layout/process5"/>
    <dgm:cxn modelId="{E4433906-5DF9-452B-84DD-8D0F27E124DD}" type="presParOf" srcId="{950297EB-6823-46BF-8EB5-3AE8E7786D74}" destId="{E1920E6A-8D7C-4AAC-9D53-1D57D4600CBE}" srcOrd="7" destOrd="0" presId="urn:microsoft.com/office/officeart/2005/8/layout/process5"/>
    <dgm:cxn modelId="{6323A994-86C7-483B-94F7-06E4B729F939}" type="presParOf" srcId="{E1920E6A-8D7C-4AAC-9D53-1D57D4600CBE}" destId="{8026299A-94CD-4E8C-9A2D-783D471A2B40}" srcOrd="0" destOrd="0" presId="urn:microsoft.com/office/officeart/2005/8/layout/process5"/>
    <dgm:cxn modelId="{09AACCAF-49F3-46D1-8F6C-F8C3A9C041F2}" type="presParOf" srcId="{950297EB-6823-46BF-8EB5-3AE8E7786D74}" destId="{3656453B-1AB6-4D1E-80D9-AEADCD63C1F0}" srcOrd="8" destOrd="0" presId="urn:microsoft.com/office/officeart/2005/8/layout/process5"/>
    <dgm:cxn modelId="{A348839D-0404-4E39-AA1F-22767AD6B9BD}" type="presParOf" srcId="{950297EB-6823-46BF-8EB5-3AE8E7786D74}" destId="{3BAEC3D7-D67B-44D6-BD69-6E90E54C076F}" srcOrd="9" destOrd="0" presId="urn:microsoft.com/office/officeart/2005/8/layout/process5"/>
    <dgm:cxn modelId="{023C706C-E1FD-4D20-B37E-FC1CE2CB6CE8}" type="presParOf" srcId="{3BAEC3D7-D67B-44D6-BD69-6E90E54C076F}" destId="{F76E9AFC-1FEE-4990-A7E4-394ABBCED585}" srcOrd="0" destOrd="0" presId="urn:microsoft.com/office/officeart/2005/8/layout/process5"/>
    <dgm:cxn modelId="{1F2D3A7C-E5DE-452E-988C-8A5A2417DE1F}" type="presParOf" srcId="{950297EB-6823-46BF-8EB5-3AE8E7786D74}" destId="{E8D37FC4-C902-4B9C-9D77-9BCA859BB557}" srcOrd="10" destOrd="0" presId="urn:microsoft.com/office/officeart/2005/8/layout/process5"/>
    <dgm:cxn modelId="{FDAA51C4-7128-427C-9306-AF145D3DD360}" type="presParOf" srcId="{950297EB-6823-46BF-8EB5-3AE8E7786D74}" destId="{8069BBED-1399-4055-A82A-555294F97668}" srcOrd="11" destOrd="0" presId="urn:microsoft.com/office/officeart/2005/8/layout/process5"/>
    <dgm:cxn modelId="{F70306D4-AB17-44EC-8F00-A0A4B080D7F4}" type="presParOf" srcId="{8069BBED-1399-4055-A82A-555294F97668}" destId="{C3DEDA89-1B3B-4D39-8731-B16C5DA6C051}" srcOrd="0" destOrd="0" presId="urn:microsoft.com/office/officeart/2005/8/layout/process5"/>
    <dgm:cxn modelId="{0773A054-5B35-48F0-BA84-A74107068A8A}" type="presParOf" srcId="{950297EB-6823-46BF-8EB5-3AE8E7786D74}" destId="{17ADB5C8-B9DC-4FA4-B42D-1A15E92C4268}" srcOrd="12" destOrd="0" presId="urn:microsoft.com/office/officeart/2005/8/layout/process5"/>
    <dgm:cxn modelId="{B20E7C12-6EB2-4F63-AC27-2BE03E72B39F}" type="presParOf" srcId="{950297EB-6823-46BF-8EB5-3AE8E7786D74}" destId="{A7512F96-FF24-42FC-A769-80AD3C705B91}" srcOrd="13" destOrd="0" presId="urn:microsoft.com/office/officeart/2005/8/layout/process5"/>
    <dgm:cxn modelId="{8B1ED605-B2AA-43A4-A9F1-57C6FFA74ED9}" type="presParOf" srcId="{A7512F96-FF24-42FC-A769-80AD3C705B91}" destId="{F4E5F184-E7DA-4FBF-B25E-8422D01CB68E}" srcOrd="0" destOrd="0" presId="urn:microsoft.com/office/officeart/2005/8/layout/process5"/>
    <dgm:cxn modelId="{828BF141-9AE1-472A-8061-18BB7940180A}" type="presParOf" srcId="{950297EB-6823-46BF-8EB5-3AE8E7786D74}" destId="{C9C9BC27-29F6-4C09-9C8A-F1DAA50F50CC}" srcOrd="14" destOrd="0" presId="urn:microsoft.com/office/officeart/2005/8/layout/process5"/>
    <dgm:cxn modelId="{5A8544FB-508B-4FF7-87D3-DF2434618E99}" type="presParOf" srcId="{950297EB-6823-46BF-8EB5-3AE8E7786D74}" destId="{45C51929-B5B9-4A5D-8EDA-AD78E50C36AD}" srcOrd="15" destOrd="0" presId="urn:microsoft.com/office/officeart/2005/8/layout/process5"/>
    <dgm:cxn modelId="{7B9F1A18-4404-4393-A9E4-300B76ED76B6}" type="presParOf" srcId="{45C51929-B5B9-4A5D-8EDA-AD78E50C36AD}" destId="{A9C5F124-3925-4D88-94E5-1D9AEF21CFD1}" srcOrd="0" destOrd="0" presId="urn:microsoft.com/office/officeart/2005/8/layout/process5"/>
    <dgm:cxn modelId="{AC18E512-B2C8-4784-9240-D1E1A7C9F781}" type="presParOf" srcId="{950297EB-6823-46BF-8EB5-3AE8E7786D74}" destId="{B9485D5E-C90F-4C04-A2FC-66C7D558132B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76004-52BD-4BC3-9574-5CA7E0FF42F0}">
      <dsp:nvSpPr>
        <dsp:cNvPr id="0" name=""/>
        <dsp:cNvSpPr/>
      </dsp:nvSpPr>
      <dsp:spPr>
        <a:xfrm>
          <a:off x="218728" y="891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Gathering Apparatus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870" y="35033"/>
        <a:ext cx="1874540" cy="1097410"/>
      </dsp:txXfrm>
    </dsp:sp>
    <dsp:sp modelId="{F05936DF-32C5-4F36-948C-697CCFD6C2B2}">
      <dsp:nvSpPr>
        <dsp:cNvPr id="0" name=""/>
        <dsp:cNvSpPr/>
      </dsp:nvSpPr>
      <dsp:spPr>
        <a:xfrm>
          <a:off x="2332521" y="342828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32521" y="439192"/>
        <a:ext cx="288315" cy="289092"/>
      </dsp:txXfrm>
    </dsp:sp>
    <dsp:sp modelId="{5D4A74A6-1F78-4334-AE80-7B9EFCB18B37}">
      <dsp:nvSpPr>
        <dsp:cNvPr id="0" name=""/>
        <dsp:cNvSpPr/>
      </dsp:nvSpPr>
      <dsp:spPr>
        <a:xfrm>
          <a:off x="2938683" y="891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Apparatus Validity Test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72825" y="35033"/>
        <a:ext cx="1874540" cy="1097410"/>
      </dsp:txXfrm>
    </dsp:sp>
    <dsp:sp modelId="{031190CA-FEFF-483E-B09B-3C0C0047BB51}">
      <dsp:nvSpPr>
        <dsp:cNvPr id="0" name=""/>
        <dsp:cNvSpPr/>
      </dsp:nvSpPr>
      <dsp:spPr>
        <a:xfrm>
          <a:off x="5052476" y="342828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52476" y="439192"/>
        <a:ext cx="288315" cy="289092"/>
      </dsp:txXfrm>
    </dsp:sp>
    <dsp:sp modelId="{C116B66D-7F32-4A5F-A10F-8C6B6C788DFC}">
      <dsp:nvSpPr>
        <dsp:cNvPr id="0" name=""/>
        <dsp:cNvSpPr/>
      </dsp:nvSpPr>
      <dsp:spPr>
        <a:xfrm>
          <a:off x="5658637" y="891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Installation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92779" y="35033"/>
        <a:ext cx="1874540" cy="1097410"/>
      </dsp:txXfrm>
    </dsp:sp>
    <dsp:sp modelId="{B632F5B5-0684-4B2A-918F-BEEE473DEECF}">
      <dsp:nvSpPr>
        <dsp:cNvPr id="0" name=""/>
        <dsp:cNvSpPr/>
      </dsp:nvSpPr>
      <dsp:spPr>
        <a:xfrm>
          <a:off x="7772430" y="342828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72430" y="439192"/>
        <a:ext cx="288315" cy="289092"/>
      </dsp:txXfrm>
    </dsp:sp>
    <dsp:sp modelId="{C972F570-D6E9-402E-9636-9252C47A56FB}">
      <dsp:nvSpPr>
        <dsp:cNvPr id="0" name=""/>
        <dsp:cNvSpPr/>
      </dsp:nvSpPr>
      <dsp:spPr>
        <a:xfrm>
          <a:off x="8378591" y="891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GUI development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12733" y="35033"/>
        <a:ext cx="1874540" cy="1097410"/>
      </dsp:txXfrm>
    </dsp:sp>
    <dsp:sp modelId="{E1920E6A-8D7C-4AAC-9D53-1D57D4600CBE}">
      <dsp:nvSpPr>
        <dsp:cNvPr id="0" name=""/>
        <dsp:cNvSpPr/>
      </dsp:nvSpPr>
      <dsp:spPr>
        <a:xfrm rot="5400000">
          <a:off x="9144064" y="1302584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205458" y="1337555"/>
        <a:ext cx="289092" cy="288315"/>
      </dsp:txXfrm>
    </dsp:sp>
    <dsp:sp modelId="{3656453B-1AB6-4D1E-80D9-AEADCD63C1F0}">
      <dsp:nvSpPr>
        <dsp:cNvPr id="0" name=""/>
        <dsp:cNvSpPr/>
      </dsp:nvSpPr>
      <dsp:spPr>
        <a:xfrm>
          <a:off x="8378591" y="1943716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PWM Generation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12733" y="1977858"/>
        <a:ext cx="1874540" cy="1097410"/>
      </dsp:txXfrm>
    </dsp:sp>
    <dsp:sp modelId="{3BAEC3D7-D67B-44D6-BD69-6E90E54C076F}">
      <dsp:nvSpPr>
        <dsp:cNvPr id="0" name=""/>
        <dsp:cNvSpPr/>
      </dsp:nvSpPr>
      <dsp:spPr>
        <a:xfrm rot="10800000">
          <a:off x="7795744" y="2285653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7919307" y="2382017"/>
        <a:ext cx="288315" cy="289092"/>
      </dsp:txXfrm>
    </dsp:sp>
    <dsp:sp modelId="{E8D37FC4-C902-4B9C-9D77-9BCA859BB557}">
      <dsp:nvSpPr>
        <dsp:cNvPr id="0" name=""/>
        <dsp:cNvSpPr/>
      </dsp:nvSpPr>
      <dsp:spPr>
        <a:xfrm>
          <a:off x="5658637" y="1943716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PID Tuning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92779" y="1977858"/>
        <a:ext cx="1874540" cy="1097410"/>
      </dsp:txXfrm>
    </dsp:sp>
    <dsp:sp modelId="{8069BBED-1399-4055-A82A-555294F97668}">
      <dsp:nvSpPr>
        <dsp:cNvPr id="0" name=""/>
        <dsp:cNvSpPr/>
      </dsp:nvSpPr>
      <dsp:spPr>
        <a:xfrm rot="10800000">
          <a:off x="5075790" y="2285653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199353" y="2382017"/>
        <a:ext cx="288315" cy="289092"/>
      </dsp:txXfrm>
    </dsp:sp>
    <dsp:sp modelId="{17ADB5C8-B9DC-4FA4-B42D-1A15E92C4268}">
      <dsp:nvSpPr>
        <dsp:cNvPr id="0" name=""/>
        <dsp:cNvSpPr/>
      </dsp:nvSpPr>
      <dsp:spPr>
        <a:xfrm>
          <a:off x="2938683" y="1943716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Running the Motor Driver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72825" y="1977858"/>
        <a:ext cx="1874540" cy="1097410"/>
      </dsp:txXfrm>
    </dsp:sp>
    <dsp:sp modelId="{A7512F96-FF24-42FC-A769-80AD3C705B91}">
      <dsp:nvSpPr>
        <dsp:cNvPr id="0" name=""/>
        <dsp:cNvSpPr/>
      </dsp:nvSpPr>
      <dsp:spPr>
        <a:xfrm rot="10800000">
          <a:off x="2355835" y="2285653"/>
          <a:ext cx="411878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479398" y="2382017"/>
        <a:ext cx="288315" cy="289092"/>
      </dsp:txXfrm>
    </dsp:sp>
    <dsp:sp modelId="{C9C9BC27-29F6-4C09-9C8A-F1DAA50F50CC}">
      <dsp:nvSpPr>
        <dsp:cNvPr id="0" name=""/>
        <dsp:cNvSpPr/>
      </dsp:nvSpPr>
      <dsp:spPr>
        <a:xfrm>
          <a:off x="218728" y="1943716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Observation and Justification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870" y="1977858"/>
        <a:ext cx="1874540" cy="1097410"/>
      </dsp:txXfrm>
    </dsp:sp>
    <dsp:sp modelId="{45C51929-B5B9-4A5D-8EDA-AD78E50C36AD}">
      <dsp:nvSpPr>
        <dsp:cNvPr id="0" name=""/>
        <dsp:cNvSpPr/>
      </dsp:nvSpPr>
      <dsp:spPr>
        <a:xfrm rot="1387155">
          <a:off x="1390258" y="3665406"/>
          <a:ext cx="2713184" cy="48182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96062" y="3733392"/>
        <a:ext cx="2568638" cy="289092"/>
      </dsp:txXfrm>
    </dsp:sp>
    <dsp:sp modelId="{B9485D5E-C90F-4C04-A2FC-66C7D558132B}">
      <dsp:nvSpPr>
        <dsp:cNvPr id="0" name=""/>
        <dsp:cNvSpPr/>
      </dsp:nvSpPr>
      <dsp:spPr>
        <a:xfrm>
          <a:off x="4298660" y="3685574"/>
          <a:ext cx="1942824" cy="11656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32802" y="3719716"/>
        <a:ext cx="1874540" cy="1097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26430-DC23-4E34-874E-0F4DD2CDFD3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EC19D-FF60-40E9-8CDC-F43A76F71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7838-C90C-2E06-0BA4-C4BCBF9C2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AD288-A76E-8365-80B5-B0004D2ED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C85A-5521-AF14-B02B-2ABD7B0F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1746-4762-4E30-8686-CC843C670C21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E6AA-20FB-5823-57C4-871485EE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EBE13-3B50-A804-AB50-C190DA18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330-ABEC-B63E-34B7-B2B3ADC8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4348-63DE-4ACD-D587-36398CAC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69E3E-893C-7321-2EFA-058020A0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CE2C0-8190-47EF-A25F-756B421A601D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1588-8A39-650D-3952-F1BD1F9E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B80A-5459-F75E-C192-4604C1FE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1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FE41-AADB-A179-89DF-DA5A74A1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A68E1-B1B9-29B8-BE13-2A1724C1B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79A0B-62BE-8F09-CF03-4EB47824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7A3A-17E2-4339-B83D-5CB0C22DDBC1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4F40-C213-D912-04B7-6ECEB4AA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33B7-112A-CADF-C523-C4661797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7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8058-B4D9-4B06-AB94-20EDB400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9306-99E3-CF3E-A45C-89A870F61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93507-07B9-F1BA-8644-37E2927A3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4BC1F-204B-C6F7-9F26-BF711B36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F3CC-A6B7-4568-9B9F-CAE052DB577B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9DD8A-4863-8A06-FD60-E8C6B270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30F8C-7028-6A8D-2EC7-5EFDAA9C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6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7D47-4CE1-8E28-4575-482EA289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B195E-4052-974A-0A44-F955E0AE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28F6C-D73E-38D0-2008-AA2E4AB6D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444CA-54DD-5105-004C-FFAC96B7A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43F18-5611-7E79-5467-EEDBE718F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80112-2CBA-94C1-FF18-76294999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1FEA-C4BA-4A7D-BCCB-EC9B81660636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BD28F-D07B-8DD2-23AC-B558EE73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0530B-8AE6-579F-5926-85529B2B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4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057-72B7-538A-A2AD-473E799E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ECD11-3E30-F4A6-8A41-4BDEC84F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8465-0305-4B11-9346-BB60CF967812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CC67C-E8C0-1346-B968-3A7B6B42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FE503-138F-27C3-BC81-F2C90F22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3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AE535-6129-CB87-2096-BDC326AA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9D5E-A7CE-49D4-80E8-0F4FFBF0816E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2E96D-5311-AFD6-CA04-4952B551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85615-7A45-60EE-A8B1-954B5DEE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7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4DD8-3879-D498-DD9B-11F96519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5EC4-53EA-93CA-2B65-C14032E2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538F0-07AA-64AF-4950-6E6EF191C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D4FE2-2973-F8BA-E16D-59120BB3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17A2-9207-4B43-A1B7-DF9AE996D68B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A84C5-BF0A-057C-3C24-1FF38B7C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F8141-059A-5241-2F3C-4D9E3A6B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5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974A-A50E-A798-7402-D4F2DE7E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2368D0-4EC0-8F93-E146-451026DD3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992AE-E090-ADC5-034F-EACA87091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26FF5-E1D3-FD25-9F7A-867E808B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2193-67AA-4B79-BB3A-CB09E85542E5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192AB-B07C-8C33-25B1-6DD691E4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5B684-0EA2-CB91-6964-A7D53E2B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0C4F-9AAF-A5F1-FAC6-E7898D66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2BB70-A50F-B8FB-8790-48327C202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FA31-0763-5120-9B2F-675ABCBC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14DD-1CDD-4EB3-90A2-115373800CBA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6D325-AE4C-7085-70EF-0EEC7E9E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A7FAE-DE26-7804-DF24-431C8DD5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7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5DDF7-2A2C-7299-638E-6002E5792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8344D-880F-E3F3-AC26-7E408B0F6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3D5AF-5BD7-8CEE-6A63-F3CB26A0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F497-C8E7-42F8-8299-EABFF01C7591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74ED6-43D9-2B40-371D-3375E4BA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75AC-7A0E-FB07-497B-F736C8A3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5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F80BAC-AED8-19CD-9366-0A0A9E8C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605FB-CBC7-1FFE-BA43-B62101188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17745-6551-D77E-BEA4-588691BFA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B28F1-0A97-48C1-AA81-C22E1BE28CD5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3AD78-1008-8B00-D751-9A845845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40292-73BB-AF23-A4A1-8442E2C54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68ECD-D36E-4BCC-ACC4-6104BF1AB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2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sign with a book and text&#10;&#10;AI-generated content may be incorrect.">
            <a:extLst>
              <a:ext uri="{FF2B5EF4-FFF2-40B4-BE49-F238E27FC236}">
                <a16:creationId xmlns:a16="http://schemas.microsoft.com/office/drawing/2014/main" id="{8B79063B-F3B2-A169-2D6F-93B1A0E4E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8" y="6056190"/>
            <a:ext cx="565812" cy="64212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38023" y="5909094"/>
            <a:ext cx="11982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207724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7B0C3-5711-195B-4F75-7D59975BC897}"/>
              </a:ext>
            </a:extLst>
          </p:cNvPr>
          <p:cNvSpPr txBox="1"/>
          <p:nvPr/>
        </p:nvSpPr>
        <p:spPr>
          <a:xfrm>
            <a:off x="1546348" y="6100254"/>
            <a:ext cx="5240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Elecctrical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Electronic Engineering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72A4C-9F69-B680-8444-8B9216087A20}"/>
              </a:ext>
            </a:extLst>
          </p:cNvPr>
          <p:cNvSpPr txBox="1"/>
          <p:nvPr/>
        </p:nvSpPr>
        <p:spPr>
          <a:xfrm>
            <a:off x="990804" y="945788"/>
            <a:ext cx="10210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Design of the Driving System of the Engine of Electrical Vehicle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endParaRPr lang="en-US" sz="3600" b="1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8F6EF9-3364-426D-24C3-D39891C33B48}"/>
              </a:ext>
            </a:extLst>
          </p:cNvPr>
          <p:cNvSpPr txBox="1"/>
          <p:nvPr/>
        </p:nvSpPr>
        <p:spPr>
          <a:xfrm>
            <a:off x="645597" y="2847209"/>
            <a:ext cx="45293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Ohiduzzaman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(20030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Amit Kumar Das (20030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Washim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Molla (20030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S.M. Fahim Shahriar (20030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Mustafijur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 (20030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Sadman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Shamyo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(20030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67B3F6-A4B9-3B88-6EC4-2F1FA2BC5E2D}"/>
              </a:ext>
            </a:extLst>
          </p:cNvPr>
          <p:cNvSpPr txBox="1"/>
          <p:nvPr/>
        </p:nvSpPr>
        <p:spPr>
          <a:xfrm>
            <a:off x="6040647" y="622336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0C0DC-B7B8-3981-E1EA-4C808D475219}"/>
              </a:ext>
            </a:extLst>
          </p:cNvPr>
          <p:cNvSpPr txBox="1"/>
          <p:nvPr/>
        </p:nvSpPr>
        <p:spPr>
          <a:xfrm>
            <a:off x="4639573" y="5061383"/>
            <a:ext cx="2474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On</a:t>
            </a: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November 10,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9AD50-750C-6EAD-AE49-AE06136E8714}"/>
              </a:ext>
            </a:extLst>
          </p:cNvPr>
          <p:cNvSpPr txBox="1"/>
          <p:nvPr/>
        </p:nvSpPr>
        <p:spPr>
          <a:xfrm>
            <a:off x="6860872" y="2976373"/>
            <a:ext cx="4685531" cy="177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Dr. Md. Habibullah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Professor,  Dept. of EEE, KUET</a:t>
            </a:r>
          </a:p>
          <a:p>
            <a:pPr marL="0" marR="0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Md. Sajjad Hossain</a:t>
            </a:r>
          </a:p>
          <a:p>
            <a:pPr marL="0" marR="0" algn="ctr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Lecturer, Dept. of EEE, KUET</a:t>
            </a:r>
          </a:p>
        </p:txBody>
      </p:sp>
    </p:spTree>
    <p:extLst>
      <p:ext uri="{BB962C8B-B14F-4D97-AF65-F5344CB8AC3E}">
        <p14:creationId xmlns:p14="http://schemas.microsoft.com/office/powerpoint/2010/main" val="421590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193756"/>
            <a:ext cx="11982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5970" y="6306578"/>
            <a:ext cx="618945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757180" y="524989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74569-912B-880D-75CC-46FE8A0886BB}"/>
              </a:ext>
            </a:extLst>
          </p:cNvPr>
          <p:cNvSpPr txBox="1"/>
          <p:nvPr/>
        </p:nvSpPr>
        <p:spPr>
          <a:xfrm>
            <a:off x="4430613" y="1657565"/>
            <a:ext cx="3330772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Apparatus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38550-863C-28DD-2F72-E062C1F2BC0A}"/>
              </a:ext>
            </a:extLst>
          </p:cNvPr>
          <p:cNvSpPr txBox="1"/>
          <p:nvPr/>
        </p:nvSpPr>
        <p:spPr>
          <a:xfrm>
            <a:off x="907931" y="6335251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</p:spTree>
    <p:extLst>
      <p:ext uri="{BB962C8B-B14F-4D97-AF65-F5344CB8AC3E}">
        <p14:creationId xmlns:p14="http://schemas.microsoft.com/office/powerpoint/2010/main" val="65253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0F2A-E510-D61E-AE63-AF50BBEC87FF}"/>
              </a:ext>
            </a:extLst>
          </p:cNvPr>
          <p:cNvSpPr txBox="1"/>
          <p:nvPr/>
        </p:nvSpPr>
        <p:spPr>
          <a:xfrm>
            <a:off x="785004" y="1482569"/>
            <a:ext cx="10884379" cy="389286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PECs replace engine parts, driving the green energy shift.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EVs use DC-AC inverters and DC-DC converters for power control.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H-bridge converter model controls motor speed and torque.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diode placement ensures current continuity and energy recovery.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MATLAB® GUI enables remote monitoring and control.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EF08D-AD4C-DA6D-9985-D2BDA3D7EB4A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</p:spTree>
    <p:extLst>
      <p:ext uri="{BB962C8B-B14F-4D97-AF65-F5344CB8AC3E}">
        <p14:creationId xmlns:p14="http://schemas.microsoft.com/office/powerpoint/2010/main" val="4186397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H-Bridge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A9C69-5270-9878-CA2D-54F9ADBE7DB6}"/>
              </a:ext>
            </a:extLst>
          </p:cNvPr>
          <p:cNvSpPr txBox="1"/>
          <p:nvPr/>
        </p:nvSpPr>
        <p:spPr>
          <a:xfrm>
            <a:off x="6256465" y="5027688"/>
            <a:ext cx="5830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1: H-bridge DC motor drive </a:t>
            </a:r>
            <a:r>
              <a:rPr lang="en-US" sz="2400" b="1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F893E2-FDE7-07CB-6AFA-4A79D79CD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5219"/>
            <a:ext cx="5910532" cy="30386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D12A75-AD4F-A1F9-533F-61A93010FD86}"/>
              </a:ext>
            </a:extLst>
          </p:cNvPr>
          <p:cNvSpPr txBox="1"/>
          <p:nvPr/>
        </p:nvSpPr>
        <p:spPr>
          <a:xfrm>
            <a:off x="300768" y="1308527"/>
            <a:ext cx="5534563" cy="479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shows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MOSFET-based H-bridge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drive.</a:t>
            </a:r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switches (Q1–Q4)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motor direction and speed.</a:t>
            </a:r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Flyback diodes (D1–D4) protect against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spikes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provide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path for current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switches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off.</a:t>
            </a:r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energy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back to supply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dissipate through a resistor.</a:t>
            </a:r>
          </a:p>
        </p:txBody>
      </p:sp>
    </p:spTree>
    <p:extLst>
      <p:ext uri="{BB962C8B-B14F-4D97-AF65-F5344CB8AC3E}">
        <p14:creationId xmlns:p14="http://schemas.microsoft.com/office/powerpoint/2010/main" val="203798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15835" y="297758"/>
            <a:ext cx="103404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Motor Speed &amp; Torque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A9C69-5270-9878-CA2D-54F9ADBE7DB6}"/>
              </a:ext>
            </a:extLst>
          </p:cNvPr>
          <p:cNvSpPr txBox="1"/>
          <p:nvPr/>
        </p:nvSpPr>
        <p:spPr>
          <a:xfrm>
            <a:off x="6288598" y="4746539"/>
            <a:ext cx="5693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560"/>
              </a:spcAft>
            </a:pPr>
            <a:r>
              <a:rPr lang="en-US" sz="24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2: (a) DC motor speed control by varying armature </a:t>
            </a:r>
            <a:r>
              <a:rPr lang="en-US" sz="24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resististance</a:t>
            </a:r>
            <a:r>
              <a:rPr lang="en-US" sz="24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(b) by using a DC-DC converter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D12A75-AD4F-A1F9-533F-61A93010FD86}"/>
                  </a:ext>
                </a:extLst>
              </p:cNvPr>
              <p:cNvSpPr txBox="1"/>
              <p:nvPr/>
            </p:nvSpPr>
            <p:spPr>
              <a:xfrm>
                <a:off x="300768" y="1160445"/>
                <a:ext cx="5315028" cy="512095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46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𝑺𝒑𝒆𝒆𝒅</m:t>
                    </m:r>
                    <m:r>
                      <a:rPr lang="en-US" sz="24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den>
                    </m:f>
                    <m:r>
                      <a:rPr lang="en-US" sz="2400" b="1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b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rpm</m:t>
                        </m:r>
                      </m:e>
                    </m:d>
                    <m:r>
                      <a:rPr lang="en-US" sz="2400" b="1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ts val="46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𝑻𝒐𝒓𝒒𝒖𝒆</m:t>
                    </m:r>
                    <m:r>
                      <a:rPr lang="en-US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𝟔𝟎</m:t>
                        </m:r>
                        <m:r>
                          <a:rPr lang="en-US" sz="2400" b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𝛑</m:t>
                        </m:r>
                        <m:r>
                          <a:rPr lang="en-US" sz="2400" b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24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𝒔𝒑𝒆𝒆𝒅</m:t>
                        </m:r>
                      </m:den>
                    </m:f>
                    <m:r>
                      <m:rPr>
                        <m:nor/>
                      </m:rPr>
                      <a:rPr lang="en-US" sz="2400" b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2400" b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in</m:t>
                    </m:r>
                    <m:r>
                      <m:rPr>
                        <m:nor/>
                      </m:rPr>
                      <a:rPr lang="en-US" sz="2400" b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𝑵𝒎</m:t>
                    </m:r>
                    <m:r>
                      <a:rPr lang="en-US" sz="2400" b="1" i="1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compares speed control by armature resistance vs. DC-DC converter.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Resistance control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wastes energy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H-bridge PWM control is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efficient.</a:t>
                </a:r>
              </a:p>
              <a:p>
                <a:pPr marL="285750" indent="-28575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Speed and torque are regulated by adjusting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supply voltage and back emf (Eb).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D12A75-AD4F-A1F9-533F-61A93010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68" y="1160445"/>
                <a:ext cx="5315028" cy="5120954"/>
              </a:xfrm>
              <a:prstGeom prst="rect">
                <a:avLst/>
              </a:prstGeom>
              <a:blipFill>
                <a:blip r:embed="rId2"/>
                <a:stretch>
                  <a:fillRect l="-1254" b="-1420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71875C4-E445-7589-6AEE-3320B8D95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44" y="1566174"/>
            <a:ext cx="3106073" cy="25114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9475D0-A2AE-0235-CC0C-C6DA432347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317" y="1318506"/>
            <a:ext cx="2997774" cy="2867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26762B-E47B-BA5A-5905-6AC96A3EAE45}"/>
              </a:ext>
            </a:extLst>
          </p:cNvPr>
          <p:cNvSpPr txBox="1"/>
          <p:nvPr/>
        </p:nvSpPr>
        <p:spPr>
          <a:xfrm>
            <a:off x="6961517" y="4204505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115D6-43EE-3DFE-19C6-C66735E7085E}"/>
              </a:ext>
            </a:extLst>
          </p:cNvPr>
          <p:cNvSpPr txBox="1"/>
          <p:nvPr/>
        </p:nvSpPr>
        <p:spPr>
          <a:xfrm>
            <a:off x="10029645" y="4236598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143150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70738" y="556990"/>
            <a:ext cx="11786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PID Controller in Closed Loop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A9C69-5270-9878-CA2D-54F9ADBE7DB6}"/>
              </a:ext>
            </a:extLst>
          </p:cNvPr>
          <p:cNvSpPr txBox="1"/>
          <p:nvPr/>
        </p:nvSpPr>
        <p:spPr>
          <a:xfrm>
            <a:off x="6641987" y="4940731"/>
            <a:ext cx="5315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3: Block diagram of PID controller </a:t>
            </a:r>
            <a:r>
              <a:rPr lang="en-US" sz="2400" b="1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12A75-AD4F-A1F9-533F-61A93010FD86}"/>
              </a:ext>
            </a:extLst>
          </p:cNvPr>
          <p:cNvSpPr txBox="1"/>
          <p:nvPr/>
        </p:nvSpPr>
        <p:spPr>
          <a:xfrm>
            <a:off x="310816" y="1552052"/>
            <a:ext cx="5315028" cy="395313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illustrates the motor speed control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PID feedback loop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PID controller compares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speed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point.</a:t>
            </a:r>
          </a:p>
          <a:p>
            <a:pPr marL="285750" indent="-28575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adjusts the motor input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speed error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maintain stability.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9D085-0DE1-0DAC-FC52-C85A09A00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41816"/>
            <a:ext cx="5861015" cy="27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8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Project Flow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36358ED-78B1-EF11-DDF5-55C0238E1C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280365"/>
              </p:ext>
            </p:extLst>
          </p:nvPr>
        </p:nvGraphicFramePr>
        <p:xfrm>
          <a:off x="635427" y="1228271"/>
          <a:ext cx="10540145" cy="5053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735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Executation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AC3CA-E4AD-B4CB-F704-07CF6F75C4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60"/>
          <a:stretch/>
        </p:blipFill>
        <p:spPr>
          <a:xfrm>
            <a:off x="1937760" y="1424927"/>
            <a:ext cx="7935477" cy="3982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AF6EF5-EEB3-7753-35DD-F20C134CB0D9}"/>
              </a:ext>
            </a:extLst>
          </p:cNvPr>
          <p:cNvSpPr txBox="1"/>
          <p:nvPr/>
        </p:nvSpPr>
        <p:spPr>
          <a:xfrm>
            <a:off x="1600042" y="5519549"/>
            <a:ext cx="8610914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4: Execution steps to motor drive modelled for EV 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47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332938"/>
            <a:ext cx="309832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1" y="29775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Pretesting Apparatus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F6EF5-EEB3-7753-35DD-F20C134CB0D9}"/>
              </a:ext>
            </a:extLst>
          </p:cNvPr>
          <p:cNvSpPr txBox="1"/>
          <p:nvPr/>
        </p:nvSpPr>
        <p:spPr>
          <a:xfrm>
            <a:off x="303544" y="5177621"/>
            <a:ext cx="11203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(a) MOSFET operability test — LED turns on at V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 V; off at lower V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(b) Driver and H-bridge validity test — LEDs indicate correct operation based on Sig 1 and Sig 2 logic states.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6E5C6-29C8-2AA1-F57A-4A5EA33B0B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089" y="1195101"/>
            <a:ext cx="3853425" cy="3864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3DAFA9-DEAA-2F08-D10D-9870934E8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013" y="1068689"/>
            <a:ext cx="4232554" cy="39906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D97C45-6F14-1D20-0A10-242C5CF78993}"/>
              </a:ext>
            </a:extLst>
          </p:cNvPr>
          <p:cNvSpPr txBox="1"/>
          <p:nvPr/>
        </p:nvSpPr>
        <p:spPr>
          <a:xfrm>
            <a:off x="722630" y="2967335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4F517-8E62-E8AF-FC3F-AA70042A6139}"/>
              </a:ext>
            </a:extLst>
          </p:cNvPr>
          <p:cNvSpPr txBox="1"/>
          <p:nvPr/>
        </p:nvSpPr>
        <p:spPr>
          <a:xfrm>
            <a:off x="5902150" y="2967335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36445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8997" y="6332938"/>
            <a:ext cx="722235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90364" y="179241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GUI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F6EF5-EEB3-7753-35DD-F20C134CB0D9}"/>
              </a:ext>
            </a:extLst>
          </p:cNvPr>
          <p:cNvSpPr txBox="1"/>
          <p:nvPr/>
        </p:nvSpPr>
        <p:spPr>
          <a:xfrm>
            <a:off x="5905500" y="5620191"/>
            <a:ext cx="4883497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7: GUI window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40376F-D801-5DE3-D300-D393C9F70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760" y="1015530"/>
            <a:ext cx="5930556" cy="47316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237AB9-C7CD-84F2-6191-12BCB010F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37"/>
          <a:stretch/>
        </p:blipFill>
        <p:spPr>
          <a:xfrm>
            <a:off x="670785" y="1088946"/>
            <a:ext cx="3310752" cy="41832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81A654-E510-081C-67FA-34DF7A3EA3AA}"/>
              </a:ext>
            </a:extLst>
          </p:cNvPr>
          <p:cNvSpPr txBox="1"/>
          <p:nvPr/>
        </p:nvSpPr>
        <p:spPr>
          <a:xfrm>
            <a:off x="206118" y="5363650"/>
            <a:ext cx="46523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6: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Acknowledgement from Arduino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3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1204" y="6332938"/>
            <a:ext cx="870028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90364" y="179241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PWM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41977-0FD4-6564-B521-B325E7D4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688" y="843530"/>
            <a:ext cx="3662769" cy="3834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24318A-EA61-0338-D4E7-DFAD1D3CF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166" y="957463"/>
            <a:ext cx="3710146" cy="3626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C219D3-8A4C-2B98-B365-8A05BC5EDA1F}"/>
              </a:ext>
            </a:extLst>
          </p:cNvPr>
          <p:cNvSpPr txBox="1"/>
          <p:nvPr/>
        </p:nvSpPr>
        <p:spPr>
          <a:xfrm>
            <a:off x="653303" y="2238941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41700-B4DA-96C9-7F64-DA78792E9C59}"/>
              </a:ext>
            </a:extLst>
          </p:cNvPr>
          <p:cNvSpPr txBox="1"/>
          <p:nvPr/>
        </p:nvSpPr>
        <p:spPr>
          <a:xfrm>
            <a:off x="6173456" y="2287739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C8133-BD3E-A9CA-DDDF-B46581C9A7D1}"/>
              </a:ext>
            </a:extLst>
          </p:cNvPr>
          <p:cNvSpPr txBox="1"/>
          <p:nvPr/>
        </p:nvSpPr>
        <p:spPr>
          <a:xfrm>
            <a:off x="494044" y="4947409"/>
            <a:ext cx="11203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8: (a) 50% duty cycle that can produce an average voltage of 6V across motor terminals. (b) 75% duty cycle that can produce an average of  9V across motor terminals.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0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0" y="631701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PWM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F64F3-86ED-C749-7DF5-C64CBC51A292}"/>
              </a:ext>
            </a:extLst>
          </p:cNvPr>
          <p:cNvSpPr txBox="1"/>
          <p:nvPr/>
        </p:nvSpPr>
        <p:spPr>
          <a:xfrm>
            <a:off x="785004" y="1482569"/>
            <a:ext cx="10884379" cy="45545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pins 2 and 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PWM signals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motor control.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adjusted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PWM duty cycle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3 controlled forward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controlled reverse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 driver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translated logic signals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V or 0 V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motor terminals.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(≈6 V)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 (≈9 V)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cycles controlling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speed.</a:t>
            </a:r>
          </a:p>
        </p:txBody>
      </p:sp>
    </p:spTree>
    <p:extLst>
      <p:ext uri="{BB962C8B-B14F-4D97-AF65-F5344CB8AC3E}">
        <p14:creationId xmlns:p14="http://schemas.microsoft.com/office/powerpoint/2010/main" val="26561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0" y="631701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PID Parameter 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F64F3-86ED-C749-7DF5-C64CBC51A292}"/>
              </a:ext>
            </a:extLst>
          </p:cNvPr>
          <p:cNvSpPr txBox="1"/>
          <p:nvPr/>
        </p:nvSpPr>
        <p:spPr>
          <a:xfrm>
            <a:off x="996020" y="2276389"/>
            <a:ext cx="10884379" cy="19538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controller parameters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 = 0.4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for fast response and minimal speed oscillation.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motor speed quickly settles to the user-set reference.</a:t>
            </a:r>
          </a:p>
        </p:txBody>
      </p:sp>
    </p:spTree>
    <p:extLst>
      <p:ext uri="{BB962C8B-B14F-4D97-AF65-F5344CB8AC3E}">
        <p14:creationId xmlns:p14="http://schemas.microsoft.com/office/powerpoint/2010/main" val="87908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49686" y="310678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Apparatus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7CA04D-84C9-7D39-5CE1-9C07A7A7D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67417"/>
              </p:ext>
            </p:extLst>
          </p:nvPr>
        </p:nvGraphicFramePr>
        <p:xfrm>
          <a:off x="602020" y="1584569"/>
          <a:ext cx="10987960" cy="4568337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936642">
                  <a:extLst>
                    <a:ext uri="{9D8B030D-6E8A-4147-A177-3AD203B41FA5}">
                      <a16:colId xmlns:a16="http://schemas.microsoft.com/office/drawing/2014/main" val="3179538801"/>
                    </a:ext>
                  </a:extLst>
                </a:gridCol>
                <a:gridCol w="3741076">
                  <a:extLst>
                    <a:ext uri="{9D8B030D-6E8A-4147-A177-3AD203B41FA5}">
                      <a16:colId xmlns:a16="http://schemas.microsoft.com/office/drawing/2014/main" val="2692787024"/>
                    </a:ext>
                  </a:extLst>
                </a:gridCol>
                <a:gridCol w="4590667">
                  <a:extLst>
                    <a:ext uri="{9D8B030D-6E8A-4147-A177-3AD203B41FA5}">
                      <a16:colId xmlns:a16="http://schemas.microsoft.com/office/drawing/2014/main" val="782122700"/>
                    </a:ext>
                  </a:extLst>
                </a:gridCol>
                <a:gridCol w="1719575">
                  <a:extLst>
                    <a:ext uri="{9D8B030D-6E8A-4147-A177-3AD203B41FA5}">
                      <a16:colId xmlns:a16="http://schemas.microsoft.com/office/drawing/2014/main" val="3152048302"/>
                    </a:ext>
                  </a:extLst>
                </a:gridCol>
              </a:tblGrid>
              <a:tr h="82733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Apparatus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Ratings / 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148918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power 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11.5 V, 2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191560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LM2596 DC-DC buck converter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Vin = 11.5 V,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Vout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10.4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713993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74710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PC817 optocoupler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= 50 mA, IC = 50 mA, VCEO = 35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113929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IRFZ44N MOSFET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177276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1N4007 diode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VPIV = 1000 V, VF = 0.7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619870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motor (dynamo)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4–12 V, 4500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528752"/>
                  </a:ext>
                </a:extLst>
              </a:tr>
              <a:tr h="4676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generator (dynamo)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4–12 V, 4500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14279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97D1847-CDF8-F6A1-5D92-1284F8BB62F0}"/>
              </a:ext>
            </a:extLst>
          </p:cNvPr>
          <p:cNvSpPr txBox="1"/>
          <p:nvPr/>
        </p:nvSpPr>
        <p:spPr>
          <a:xfrm>
            <a:off x="1653531" y="1039956"/>
            <a:ext cx="8503937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1: List of apparatus used in project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792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49686" y="310678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Apparatus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B9DCCF-CD29-97BB-991F-854F0CACF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086382"/>
              </p:ext>
            </p:extLst>
          </p:nvPr>
        </p:nvGraphicFramePr>
        <p:xfrm>
          <a:off x="448827" y="1127691"/>
          <a:ext cx="11294346" cy="5086231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751371735"/>
                    </a:ext>
                  </a:extLst>
                </a:gridCol>
                <a:gridCol w="2944167">
                  <a:extLst>
                    <a:ext uri="{9D8B030D-6E8A-4147-A177-3AD203B41FA5}">
                      <a16:colId xmlns:a16="http://schemas.microsoft.com/office/drawing/2014/main" val="2752588141"/>
                    </a:ext>
                  </a:extLst>
                </a:gridCol>
                <a:gridCol w="5629077">
                  <a:extLst>
                    <a:ext uri="{9D8B030D-6E8A-4147-A177-3AD203B41FA5}">
                      <a16:colId xmlns:a16="http://schemas.microsoft.com/office/drawing/2014/main" val="4268231178"/>
                    </a:ext>
                  </a:extLst>
                </a:gridCol>
                <a:gridCol w="1806703">
                  <a:extLst>
                    <a:ext uri="{9D8B030D-6E8A-4147-A177-3AD203B41FA5}">
                      <a16:colId xmlns:a16="http://schemas.microsoft.com/office/drawing/2014/main" val="2806344870"/>
                    </a:ext>
                  </a:extLst>
                </a:gridCol>
              </a:tblGrid>
              <a:tr h="210244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 No.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Apparatus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Ratings / Specification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99081708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 Ω, 2.2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Ω, 10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Ω, 100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 (0.25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W) –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each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</a:t>
                      </a:r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Ω, 18 Ω (10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W) –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each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4666447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Potentiometer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kΩ, 100 kΩ, 1 W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each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1735257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Relay switch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Vtrigg = 5 V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44651314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Rocker switch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2378670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 buttons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mA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3901910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4026141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0–50 V DC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9798902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Breadboard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0542195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Jumper wires and probes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needed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7486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36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0" y="3192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Description: Proteus Blueprint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28A11-FBB0-000E-0B45-F90FDAD29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98" y="711078"/>
            <a:ext cx="5932735" cy="5077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91F41C-6472-06C5-836F-DE38B9FD1891}"/>
              </a:ext>
            </a:extLst>
          </p:cNvPr>
          <p:cNvSpPr txBox="1"/>
          <p:nvPr/>
        </p:nvSpPr>
        <p:spPr>
          <a:xfrm>
            <a:off x="1844031" y="5788130"/>
            <a:ext cx="8503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560"/>
              </a:spcAft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9: Circuit diagram of the whole prototype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808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0121" y="181006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Operation: Motor Rotation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775A9-A27F-044F-9369-65EA8D9EC3C7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43B34-2A89-88BC-ADDE-F5C04D70F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73" y="869911"/>
            <a:ext cx="3746081" cy="3998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9443F4-5FAA-4829-57E4-E7E5F863B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012" y="921053"/>
            <a:ext cx="4377248" cy="3896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7540B9-AC23-0F4D-09F4-E8F3D5892D26}"/>
              </a:ext>
            </a:extLst>
          </p:cNvPr>
          <p:cNvSpPr txBox="1"/>
          <p:nvPr/>
        </p:nvSpPr>
        <p:spPr>
          <a:xfrm>
            <a:off x="841711" y="2287738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67200-F130-B09A-9FE6-FCE9F1B7DF63}"/>
              </a:ext>
            </a:extLst>
          </p:cNvPr>
          <p:cNvSpPr txBox="1"/>
          <p:nvPr/>
        </p:nvSpPr>
        <p:spPr>
          <a:xfrm>
            <a:off x="6173456" y="2287739"/>
            <a:ext cx="595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855A0-6512-03C9-C74E-B71035098858}"/>
              </a:ext>
            </a:extLst>
          </p:cNvPr>
          <p:cNvSpPr txBox="1"/>
          <p:nvPr/>
        </p:nvSpPr>
        <p:spPr>
          <a:xfrm>
            <a:off x="1112808" y="4912591"/>
            <a:ext cx="10398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10: Equivalent single pole single throw (SPDT) switch circuit of H-bridge converter motor drive for the case of (a) Forward motoring and (b) reverse motoring. Blue arrows show current flow.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733F5F-82B1-0F43-D0E0-F5E8D1361CC7}"/>
              </a:ext>
            </a:extLst>
          </p:cNvPr>
          <p:cNvCxnSpPr/>
          <p:nvPr/>
        </p:nvCxnSpPr>
        <p:spPr>
          <a:xfrm flipH="1">
            <a:off x="8605361" y="1671488"/>
            <a:ext cx="590550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7DDB69-90B8-E2FC-1A77-8576A588671B}"/>
              </a:ext>
            </a:extLst>
          </p:cNvPr>
          <p:cNvCxnSpPr/>
          <p:nvPr/>
        </p:nvCxnSpPr>
        <p:spPr>
          <a:xfrm flipH="1">
            <a:off x="7280757" y="2772679"/>
            <a:ext cx="6350" cy="55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A015BC-CB18-E8AC-A7CD-E80F9BC74C9D}"/>
              </a:ext>
            </a:extLst>
          </p:cNvPr>
          <p:cNvCxnSpPr/>
          <p:nvPr/>
        </p:nvCxnSpPr>
        <p:spPr>
          <a:xfrm>
            <a:off x="10368352" y="1714380"/>
            <a:ext cx="12700" cy="501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9CC51A-15FE-1418-AB25-828BA251AF2F}"/>
              </a:ext>
            </a:extLst>
          </p:cNvPr>
          <p:cNvCxnSpPr/>
          <p:nvPr/>
        </p:nvCxnSpPr>
        <p:spPr>
          <a:xfrm>
            <a:off x="2841025" y="1665138"/>
            <a:ext cx="730250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7F361C-4450-C497-4E8B-68E68190B638}"/>
              </a:ext>
            </a:extLst>
          </p:cNvPr>
          <p:cNvCxnSpPr/>
          <p:nvPr/>
        </p:nvCxnSpPr>
        <p:spPr>
          <a:xfrm flipH="1">
            <a:off x="4764357" y="2901950"/>
            <a:ext cx="6350" cy="527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BA25AC-81F7-B811-5274-493E84D91B91}"/>
              </a:ext>
            </a:extLst>
          </p:cNvPr>
          <p:cNvCxnSpPr/>
          <p:nvPr/>
        </p:nvCxnSpPr>
        <p:spPr>
          <a:xfrm>
            <a:off x="1959136" y="2776992"/>
            <a:ext cx="635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68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0121" y="181006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Operation: Monitoring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60E07-C6B1-CC01-71D4-F0390FAE9855}"/>
              </a:ext>
            </a:extLst>
          </p:cNvPr>
          <p:cNvSpPr txBox="1"/>
          <p:nvPr/>
        </p:nvSpPr>
        <p:spPr>
          <a:xfrm>
            <a:off x="750498" y="1172018"/>
            <a:ext cx="10884379" cy="51974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analog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A0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accelerator and brake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speed increases or decreases based on potentiometer rotation direction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duty cycle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(minimum) ensures smooth running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shutdown below 4 V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duty cycle gives maximum motor speed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motion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controlled via a dedicated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gear button in the GUI.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1465F9-67C8-C2C6-F7FD-A4FA3AFE9F44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4EEA0325-5A1F-2AD7-6DA0-7180B8A1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75B1A-5B49-7525-5226-ABE1AEDB55FA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</p:spTree>
    <p:extLst>
      <p:ext uri="{BB962C8B-B14F-4D97-AF65-F5344CB8AC3E}">
        <p14:creationId xmlns:p14="http://schemas.microsoft.com/office/powerpoint/2010/main" val="3943590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09133" y="586447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Operation: Control Modes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60E07-C6B1-CC01-71D4-F0390FAE9855}"/>
              </a:ext>
            </a:extLst>
          </p:cNvPr>
          <p:cNvSpPr txBox="1"/>
          <p:nvPr/>
        </p:nvSpPr>
        <p:spPr>
          <a:xfrm>
            <a:off x="653810" y="1553125"/>
            <a:ext cx="10884379" cy="45526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control mode can be toggled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open and closed loop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mode button</a:t>
            </a: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open loop mode,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varies with load changes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feedback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</a:t>
            </a: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load slows the motor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load speeds it up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input</a:t>
            </a: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behavior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mirrors real EV acceleration on uneven terrain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hence,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control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essential for stable motor speed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varying load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4C4E7E-98B6-C19C-40BF-4B926C13A3E1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C4CD640B-BC66-FFF6-2B2C-97F42FD0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11256-9D0B-F928-798D-E2C74D0354FE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</p:spTree>
    <p:extLst>
      <p:ext uri="{BB962C8B-B14F-4D97-AF65-F5344CB8AC3E}">
        <p14:creationId xmlns:p14="http://schemas.microsoft.com/office/powerpoint/2010/main" val="236759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0" y="181006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Operation: Open Loop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72665-215F-C1FD-5F94-1BD4D31AF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31" y="1020824"/>
            <a:ext cx="11468882" cy="460715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62AF2F-0B03-AC6A-5705-070695971326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8692A07-6AC6-8106-3949-800DD3C3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1E8E5-AED8-EDB7-50BC-AB0A86292EED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D7EE9-6554-4E56-BB5A-CAAE04B7DA86}"/>
              </a:ext>
            </a:extLst>
          </p:cNvPr>
          <p:cNvSpPr txBox="1"/>
          <p:nvPr/>
        </p:nvSpPr>
        <p:spPr>
          <a:xfrm>
            <a:off x="896788" y="5711284"/>
            <a:ext cx="10398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 11: Open loop control of motor speed.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35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170750" y="181006"/>
            <a:ext cx="9469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Operation: Closed Loop Action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62AF2F-0B03-AC6A-5705-070695971326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8692A07-6AC6-8106-3949-800DD3C3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2268" y="6332938"/>
            <a:ext cx="648964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1E8E5-AED8-EDB7-50BC-AB0A86292EED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D7EE9-6554-4E56-BB5A-CAAE04B7DA86}"/>
              </a:ext>
            </a:extLst>
          </p:cNvPr>
          <p:cNvSpPr txBox="1"/>
          <p:nvPr/>
        </p:nvSpPr>
        <p:spPr>
          <a:xfrm>
            <a:off x="788326" y="5648935"/>
            <a:ext cx="10398424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 12: Closed loop control of motor speed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5A30E2-02B0-BA8F-FE53-13C2AB0F5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64" y="944726"/>
            <a:ext cx="8105213" cy="471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81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799EA3-0309-8069-01FD-BF87989EA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253465"/>
              </p:ext>
            </p:extLst>
          </p:nvPr>
        </p:nvGraphicFramePr>
        <p:xfrm>
          <a:off x="764875" y="1543724"/>
          <a:ext cx="10662249" cy="4524445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25873">
                  <a:extLst>
                    <a:ext uri="{9D8B030D-6E8A-4147-A177-3AD203B41FA5}">
                      <a16:colId xmlns:a16="http://schemas.microsoft.com/office/drawing/2014/main" val="2804033735"/>
                    </a:ext>
                  </a:extLst>
                </a:gridCol>
                <a:gridCol w="5234196">
                  <a:extLst>
                    <a:ext uri="{9D8B030D-6E8A-4147-A177-3AD203B41FA5}">
                      <a16:colId xmlns:a16="http://schemas.microsoft.com/office/drawing/2014/main" val="4250615973"/>
                    </a:ext>
                  </a:extLst>
                </a:gridCol>
                <a:gridCol w="4202180">
                  <a:extLst>
                    <a:ext uri="{9D8B030D-6E8A-4147-A177-3AD203B41FA5}">
                      <a16:colId xmlns:a16="http://schemas.microsoft.com/office/drawing/2014/main" val="1922282695"/>
                    </a:ext>
                  </a:extLst>
                </a:gridCol>
              </a:tblGrid>
              <a:tr h="5806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S.L. no.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data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5850949"/>
                  </a:ext>
                </a:extLst>
              </a:tr>
              <a:tr h="4191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period of PWM signal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30ms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572738"/>
                  </a:ext>
                </a:extLst>
              </a:tr>
              <a:tr h="4191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of PWM signal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33.33 Hz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9360364"/>
                  </a:ext>
                </a:extLst>
              </a:tr>
              <a:tr h="4191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Buck converter output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10.4 (approx.)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5419707"/>
                  </a:ext>
                </a:extLst>
              </a:tr>
              <a:tr h="151605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Duty cycle of PWM for lowest motor speed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50 % (regular operation), 0% (open loop test), 50% (closed loop test)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6598547"/>
                  </a:ext>
                </a:extLst>
              </a:tr>
              <a:tr h="1170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Duty cycle of PWM for highest motor speed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100 %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94178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1596426" y="789831"/>
            <a:ext cx="863540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 2: Overview of prefixed data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86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Open Loop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1596426" y="789831"/>
            <a:ext cx="863540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560"/>
              </a:spcAft>
            </a:pPr>
            <a:r>
              <a:rPr lang="en-US" sz="2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3: Summary of open loop test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2A03FE-5434-6056-850A-C006FDABF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717861"/>
              </p:ext>
            </p:extLst>
          </p:nvPr>
        </p:nvGraphicFramePr>
        <p:xfrm>
          <a:off x="725339" y="1658072"/>
          <a:ext cx="10377576" cy="450302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052179">
                  <a:extLst>
                    <a:ext uri="{9D8B030D-6E8A-4147-A177-3AD203B41FA5}">
                      <a16:colId xmlns:a16="http://schemas.microsoft.com/office/drawing/2014/main" val="2873010504"/>
                    </a:ext>
                  </a:extLst>
                </a:gridCol>
                <a:gridCol w="7402635">
                  <a:extLst>
                    <a:ext uri="{9D8B030D-6E8A-4147-A177-3AD203B41FA5}">
                      <a16:colId xmlns:a16="http://schemas.microsoft.com/office/drawing/2014/main" val="49976187"/>
                    </a:ext>
                  </a:extLst>
                </a:gridCol>
                <a:gridCol w="1922762">
                  <a:extLst>
                    <a:ext uri="{9D8B030D-6E8A-4147-A177-3AD203B41FA5}">
                      <a16:colId xmlns:a16="http://schemas.microsoft.com/office/drawing/2014/main" val="3418715168"/>
                    </a:ext>
                  </a:extLst>
                </a:gridCol>
              </a:tblGrid>
              <a:tr h="5348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 no.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name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4586942"/>
                  </a:ext>
                </a:extLst>
              </a:tr>
              <a:tr h="5348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motor terminal voltage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7.35V (approx.)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4357342"/>
                  </a:ext>
                </a:extLst>
              </a:tr>
              <a:tr h="106968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motor terminal voltage just before motor stops (for 40% duty cycle)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4V (approx.)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3623515"/>
                  </a:ext>
                </a:extLst>
              </a:tr>
              <a:tr h="106968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voltage across generator terminal (this corresponds to maximum motor speed)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 V (approx.)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8444961"/>
                  </a:ext>
                </a:extLst>
              </a:tr>
              <a:tr h="106968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voltage across generator terminal just before motor stops (this corresponds to minimum motor speed at 40% duty cycle)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2.06 V (approx.)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8652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208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Motor-Generator Terminal Voltage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868910" y="5247377"/>
            <a:ext cx="10473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13: Motor–generator voltage comparison showing lower generator voltage, indicating frictional losses from coupling faults.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527FA-24ED-506B-D740-84CFE090A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20" y="1012853"/>
            <a:ext cx="7460813" cy="415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97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04955" y="149894"/>
            <a:ext cx="1161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Motor-Generator Terminal Voltage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707365" y="5039418"/>
            <a:ext cx="11084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 14: Linear trend relation between motor and generator terminal voltage. To measure motor speed correctly, the generator voltage should have a linear link with motor speed which in turns is expressed by motor terminal voltage.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F79E4-CED2-2B31-F3B1-0E0ABD80A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109" y="1040901"/>
            <a:ext cx="7002101" cy="391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43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6328" y="434551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Closed Loop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1596426" y="1225740"/>
            <a:ext cx="8635402" cy="66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1123950" algn="l"/>
              </a:tabLst>
            </a:pPr>
            <a:r>
              <a:rPr lang="en-US" sz="2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4: Summary of closed loop test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6545EA-6537-DF29-9763-8E9E9ACE5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96453"/>
              </p:ext>
            </p:extLst>
          </p:nvPr>
        </p:nvGraphicFramePr>
        <p:xfrm>
          <a:off x="859047" y="2090685"/>
          <a:ext cx="10463841" cy="325215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070846">
                  <a:extLst>
                    <a:ext uri="{9D8B030D-6E8A-4147-A177-3AD203B41FA5}">
                      <a16:colId xmlns:a16="http://schemas.microsoft.com/office/drawing/2014/main" val="650470418"/>
                    </a:ext>
                  </a:extLst>
                </a:gridCol>
                <a:gridCol w="7338277">
                  <a:extLst>
                    <a:ext uri="{9D8B030D-6E8A-4147-A177-3AD203B41FA5}">
                      <a16:colId xmlns:a16="http://schemas.microsoft.com/office/drawing/2014/main" val="264128289"/>
                    </a:ext>
                  </a:extLst>
                </a:gridCol>
                <a:gridCol w="2054718">
                  <a:extLst>
                    <a:ext uri="{9D8B030D-6E8A-4147-A177-3AD203B41FA5}">
                      <a16:colId xmlns:a16="http://schemas.microsoft.com/office/drawing/2014/main" val="379256915"/>
                    </a:ext>
                  </a:extLst>
                </a:gridCol>
              </a:tblGrid>
              <a:tr h="650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 no.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name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1776988"/>
                  </a:ext>
                </a:extLst>
              </a:tr>
              <a:tr h="13008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voltage across generator terminal (this corresponds to maximum motor speed)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V (approx.)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0205059"/>
                  </a:ext>
                </a:extLst>
              </a:tr>
              <a:tr h="13008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voltage across generator terminal (this corresponds to minimum motor speed at 50 % duty cycle)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560"/>
                        </a:spcAft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V (approx.)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2930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863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6328" y="224736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Variations of Duty Cycle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859047" y="5694545"/>
            <a:ext cx="1056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800"/>
              </a:spcAft>
              <a:tabLst>
                <a:tab pos="1123950" algn="l"/>
              </a:tabLst>
            </a:pPr>
            <a:r>
              <a:rPr lang="en-US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15: Variation of output and controller gen. duty cycle with ref. duty cycle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30CCB-8B4F-D34A-C777-2D3613352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24" y="1246580"/>
            <a:ext cx="8468951" cy="436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08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6328" y="224736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PID Response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859047" y="5694545"/>
            <a:ext cx="10568256" cy="58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1123950" algn="l"/>
              </a:tabLst>
            </a:pPr>
            <a:r>
              <a:rPr lang="en-US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 16: Real time data of PID response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657A8-E51F-24EA-588D-F9A33E2EE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535" y="974544"/>
            <a:ext cx="9670930" cy="463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96328" y="224736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Calibration of Parameters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EAE9-709B-CC7E-C163-C8E85039002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BF1AF-7F3F-4BF5-EF54-E010ACA3D654}"/>
              </a:ext>
            </a:extLst>
          </p:cNvPr>
          <p:cNvSpPr txBox="1"/>
          <p:nvPr/>
        </p:nvSpPr>
        <p:spPr>
          <a:xfrm>
            <a:off x="621372" y="987893"/>
            <a:ext cx="10568256" cy="66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1123950" algn="l"/>
              </a:tabLst>
            </a:pPr>
            <a:r>
              <a:rPr lang="en-US" sz="2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 5: List of calibrated Data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E5D6BE-8D69-0E20-8E74-D7D60443F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2376"/>
              </p:ext>
            </p:extLst>
          </p:nvPr>
        </p:nvGraphicFramePr>
        <p:xfrm>
          <a:off x="1103822" y="1760340"/>
          <a:ext cx="9984355" cy="428732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147934">
                  <a:extLst>
                    <a:ext uri="{9D8B030D-6E8A-4147-A177-3AD203B41FA5}">
                      <a16:colId xmlns:a16="http://schemas.microsoft.com/office/drawing/2014/main" val="3656025410"/>
                    </a:ext>
                  </a:extLst>
                </a:gridCol>
                <a:gridCol w="6727427">
                  <a:extLst>
                    <a:ext uri="{9D8B030D-6E8A-4147-A177-3AD203B41FA5}">
                      <a16:colId xmlns:a16="http://schemas.microsoft.com/office/drawing/2014/main" val="1025523480"/>
                    </a:ext>
                  </a:extLst>
                </a:gridCol>
                <a:gridCol w="2108994">
                  <a:extLst>
                    <a:ext uri="{9D8B030D-6E8A-4147-A177-3AD203B41FA5}">
                      <a16:colId xmlns:a16="http://schemas.microsoft.com/office/drawing/2014/main" val="4271407099"/>
                    </a:ext>
                  </a:extLst>
                </a:gridCol>
              </a:tblGrid>
              <a:tr h="1252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 no.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 of Data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Calibrated value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4987765"/>
                  </a:ext>
                </a:extLst>
              </a:tr>
              <a:tr h="1252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 ADC output for maximum generator output voltage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2631552"/>
                  </a:ext>
                </a:extLst>
              </a:tr>
              <a:tr h="594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Proportional gain of PID controller, K</a:t>
                      </a:r>
                      <a:r>
                        <a:rPr lang="en-US" sz="24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3944932"/>
                  </a:ext>
                </a:extLst>
              </a:tr>
              <a:tr h="594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Integral gain of PID controller, K</a:t>
                      </a:r>
                      <a:r>
                        <a:rPr lang="en-US" sz="24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i­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3367062"/>
                  </a:ext>
                </a:extLst>
              </a:tr>
              <a:tr h="594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Derivative gain of PID controller,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2400" baseline="-25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2395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3279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851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04955" y="6323050"/>
            <a:ext cx="11982090" cy="0"/>
          </a:xfrm>
          <a:prstGeom prst="line">
            <a:avLst/>
          </a:prstGeom>
          <a:ln>
            <a:solidFill>
              <a:schemeClr val="accent1">
                <a:alpha val="23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9" y="6332938"/>
            <a:ext cx="521899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FC8B5-DA0E-C885-19E5-3FD0353E1B8C}"/>
              </a:ext>
            </a:extLst>
          </p:cNvPr>
          <p:cNvSpPr txBox="1"/>
          <p:nvPr/>
        </p:nvSpPr>
        <p:spPr>
          <a:xfrm>
            <a:off x="191219" y="748048"/>
            <a:ext cx="1161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E35FC-E1E6-6C04-75FE-B8621271FEFC}"/>
              </a:ext>
            </a:extLst>
          </p:cNvPr>
          <p:cNvSpPr txBox="1"/>
          <p:nvPr/>
        </p:nvSpPr>
        <p:spPr>
          <a:xfrm>
            <a:off x="859047" y="640635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9FA03C-A9B5-A395-85B7-D3468E632670}"/>
              </a:ext>
            </a:extLst>
          </p:cNvPr>
          <p:cNvSpPr txBox="1"/>
          <p:nvPr/>
        </p:nvSpPr>
        <p:spPr>
          <a:xfrm>
            <a:off x="838919" y="1808260"/>
            <a:ext cx="10591081" cy="356430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H-bridge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prototype successfully drives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motors for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operate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open and closed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control modes</a:t>
            </a: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allows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inductive power to be transferred to an auxiliary low power source</a:t>
            </a: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satisfactory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design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are possible</a:t>
            </a:r>
          </a:p>
          <a:p>
            <a:pPr marL="285750" indent="-285750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speed sensor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 generator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reduce energy loss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coupling faults.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309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sign with a book and text&#10;&#10;AI-generated content may be incorrect.">
            <a:extLst>
              <a:ext uri="{FF2B5EF4-FFF2-40B4-BE49-F238E27FC236}">
                <a16:creationId xmlns:a16="http://schemas.microsoft.com/office/drawing/2014/main" id="{8B79063B-F3B2-A169-2D6F-93B1A0E4E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17" y="6040549"/>
            <a:ext cx="565812" cy="64212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329C6-0B4F-247C-4BEC-D9201F7C5115}"/>
              </a:ext>
            </a:extLst>
          </p:cNvPr>
          <p:cNvCxnSpPr/>
          <p:nvPr/>
        </p:nvCxnSpPr>
        <p:spPr>
          <a:xfrm>
            <a:off x="138023" y="5909094"/>
            <a:ext cx="11982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156987-E139-AA15-847F-085D640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099" y="6207724"/>
            <a:ext cx="676275" cy="365125"/>
          </a:xfrm>
          <a:solidFill>
            <a:schemeClr val="bg1">
              <a:lumMod val="95000"/>
            </a:schemeClr>
          </a:solidFill>
          <a:ln w="15875">
            <a:noFill/>
          </a:ln>
          <a:effectLst>
            <a:softEdge rad="76200"/>
          </a:effectLst>
        </p:spPr>
        <p:txBody>
          <a:bodyPr/>
          <a:lstStyle/>
          <a:p>
            <a:fld id="{56068ECD-D36E-4BCC-ACC4-6104BF1AB637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7B0C3-5711-195B-4F75-7D59975BC897}"/>
              </a:ext>
            </a:extLst>
          </p:cNvPr>
          <p:cNvSpPr txBox="1"/>
          <p:nvPr/>
        </p:nvSpPr>
        <p:spPr>
          <a:xfrm>
            <a:off x="1368697" y="6084613"/>
            <a:ext cx="5126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Department of </a:t>
            </a:r>
            <a:r>
              <a:rPr lang="en-US" sz="1400" b="1" dirty="0" err="1"/>
              <a:t>Elecctrical</a:t>
            </a:r>
            <a:r>
              <a:rPr lang="en-US" sz="1400" b="1" dirty="0"/>
              <a:t> &amp; Electronic Engineering</a:t>
            </a:r>
          </a:p>
          <a:p>
            <a:r>
              <a:rPr lang="en-US" sz="1600" b="1" dirty="0"/>
              <a:t>Khulna University of Engineering &amp;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6C035-95F4-F84D-EE0C-8CF091BC597E}"/>
              </a:ext>
            </a:extLst>
          </p:cNvPr>
          <p:cNvSpPr txBox="1"/>
          <p:nvPr/>
        </p:nvSpPr>
        <p:spPr>
          <a:xfrm>
            <a:off x="3664168" y="1842350"/>
            <a:ext cx="48636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A8A76-BEF9-3B9A-3559-CA9A688AF057}"/>
              </a:ext>
            </a:extLst>
          </p:cNvPr>
          <p:cNvSpPr txBox="1"/>
          <p:nvPr/>
        </p:nvSpPr>
        <p:spPr>
          <a:xfrm>
            <a:off x="4037827" y="2972313"/>
            <a:ext cx="41163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3B2ED-1039-AA89-D189-A918DD265C36}"/>
              </a:ext>
            </a:extLst>
          </p:cNvPr>
          <p:cNvSpPr txBox="1"/>
          <p:nvPr/>
        </p:nvSpPr>
        <p:spPr>
          <a:xfrm>
            <a:off x="6040646" y="6207724"/>
            <a:ext cx="5046453" cy="307777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 4110 – Sessional on Power Electronics &amp; Industrial Drives</a:t>
            </a:r>
          </a:p>
        </p:txBody>
      </p:sp>
    </p:spTree>
    <p:extLst>
      <p:ext uri="{BB962C8B-B14F-4D97-AF65-F5344CB8AC3E}">
        <p14:creationId xmlns:p14="http://schemas.microsoft.com/office/powerpoint/2010/main" val="160406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2801</TotalTime>
  <Words>1940</Words>
  <Application>Microsoft Office PowerPoint</Application>
  <PresentationFormat>Widescreen</PresentationFormat>
  <Paragraphs>331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nonexistentpseudoblessing@outlook.com</dc:creator>
  <cp:lastModifiedBy>nonexistentpseudoblessing@outlook.com</cp:lastModifiedBy>
  <cp:revision>764</cp:revision>
  <dcterms:created xsi:type="dcterms:W3CDTF">2025-09-01T11:58:43Z</dcterms:created>
  <dcterms:modified xsi:type="dcterms:W3CDTF">2025-11-09T08:56:38Z</dcterms:modified>
</cp:coreProperties>
</file>